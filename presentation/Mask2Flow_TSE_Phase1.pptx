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wav" ContentType="audio/x-wav"/>
  <Override PartName="/ppt/media/media10.wav" ContentType="audio/x-wav"/>
  <Override PartName="/ppt/media/media2.wav" ContentType="audio/x-wav"/>
  <Override PartName="/ppt/media/media3.wav" ContentType="audio/x-wav"/>
  <Override PartName="/ppt/media/media4.wav" ContentType="audio/x-wav"/>
  <Override PartName="/ppt/media/media5.wav" ContentType="audio/x-wav"/>
  <Override PartName="/ppt/media/media6.wav" ContentType="audio/x-wav"/>
  <Override PartName="/ppt/media/media7.wav" ContentType="audio/x-wav"/>
  <Override PartName="/ppt/media/media8.wav" ContentType="audio/x-wav"/>
  <Override PartName="/ppt/media/media9.wav" ContentType="audio/x-wav"/>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wav"/><Relationship Id="rId3" Type="http://schemas.openxmlformats.org/officeDocument/2006/relationships/audio" Target="../media/media1.wav"/><Relationship Id="rId4" Type="http://schemas.openxmlformats.org/officeDocument/2006/relationships/image" Target="../media/image6.png"/><Relationship Id="rId5" Type="http://schemas.microsoft.com/office/2007/relationships/media" Target="../media/media2.wav"/><Relationship Id="rId6" Type="http://schemas.openxmlformats.org/officeDocument/2006/relationships/audio" Target="../media/media2.wav"/><Relationship Id="rId7" Type="http://schemas.microsoft.com/office/2007/relationships/media" Target="../media/media3.wav"/><Relationship Id="rId8" Type="http://schemas.openxmlformats.org/officeDocument/2006/relationships/audio" Target="../media/media3.wav"/></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wav"/><Relationship Id="rId3" Type="http://schemas.openxmlformats.org/officeDocument/2006/relationships/audio" Target="../media/media4.wav"/><Relationship Id="rId4" Type="http://schemas.openxmlformats.org/officeDocument/2006/relationships/image" Target="../media/image6.png"/><Relationship Id="rId5" Type="http://schemas.microsoft.com/office/2007/relationships/media" Target="../media/media5.wav"/><Relationship Id="rId6" Type="http://schemas.openxmlformats.org/officeDocument/2006/relationships/audio" Target="../media/media5.wav"/><Relationship Id="rId7" Type="http://schemas.microsoft.com/office/2007/relationships/media" Target="../media/media3.wav"/><Relationship Id="rId8" Type="http://schemas.openxmlformats.org/officeDocument/2006/relationships/audio" Target="../media/media3.wav"/></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wav"/><Relationship Id="rId3" Type="http://schemas.openxmlformats.org/officeDocument/2006/relationships/audio" Target="../media/media6.wav"/><Relationship Id="rId4" Type="http://schemas.openxmlformats.org/officeDocument/2006/relationships/image" Target="../media/image6.png"/><Relationship Id="rId5" Type="http://schemas.microsoft.com/office/2007/relationships/media" Target="../media/media7.wav"/><Relationship Id="rId6" Type="http://schemas.openxmlformats.org/officeDocument/2006/relationships/audio" Target="../media/media7.wav"/><Relationship Id="rId7" Type="http://schemas.microsoft.com/office/2007/relationships/media" Target="../media/media8.wav"/><Relationship Id="rId8" Type="http://schemas.openxmlformats.org/officeDocument/2006/relationships/audio" Target="../media/media8.wav"/></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9.wav"/><Relationship Id="rId3" Type="http://schemas.openxmlformats.org/officeDocument/2006/relationships/audio" Target="../media/media9.wav"/><Relationship Id="rId4" Type="http://schemas.openxmlformats.org/officeDocument/2006/relationships/image" Target="../media/image6.png"/><Relationship Id="rId5" Type="http://schemas.microsoft.com/office/2007/relationships/media" Target="../media/media10.wav"/><Relationship Id="rId6" Type="http://schemas.openxmlformats.org/officeDocument/2006/relationships/audio" Target="../media/media10.wav"/><Relationship Id="rId7" Type="http://schemas.microsoft.com/office/2007/relationships/media" Target="../media/media3.wav"/><Relationship Id="rId8" Type="http://schemas.openxmlformats.org/officeDocument/2006/relationships/audio" Target="../media/media3.wav"/></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9144000" cy="2240280"/>
          </a:xfrm>
          <a:prstGeom prst="roundRect">
            <a:avLst/>
          </a:prstGeom>
          <a:solidFill>
            <a:srgbClr val="0E6F6B"/>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566928"/>
            <a:ext cx="8321040" cy="1463040"/>
          </a:xfrm>
          <a:prstGeom prst="rect">
            <a:avLst/>
          </a:prstGeom>
          <a:noFill/>
        </p:spPr>
        <p:txBody>
          <a:bodyPr wrap="square" lIns="0" rIns="0" tIns="0" bIns="0">
            <a:spAutoFit/>
          </a:bodyPr>
          <a:lstStyle/>
          <a:p>
            <a:pPr algn="l">
              <a:spcAft>
                <a:spcPts val="200"/>
              </a:spcAft>
            </a:pPr>
            <a:r>
              <a:rPr sz="3800" b="1" i="0">
                <a:solidFill>
                  <a:srgbClr val="FFFFFF"/>
                </a:solidFill>
                <a:latin typeface="Segoe UI"/>
              </a:rPr>
              <a:t>Mask2Flow-TSE</a:t>
            </a:r>
          </a:p>
          <a:p>
            <a:pPr algn="l">
              <a:spcAft>
                <a:spcPts val="1000"/>
              </a:spcAft>
            </a:pPr>
            <a:r>
              <a:rPr sz="1500" b="0" i="0">
                <a:solidFill>
                  <a:srgbClr val="CCE8E6"/>
                </a:solidFill>
                <a:latin typeface="Segoe UI"/>
              </a:rPr>
              <a:t>Two-Stage Target Speaker Extraction with Masking and Flow Matching</a:t>
            </a:r>
          </a:p>
          <a:p>
            <a:pPr algn="l">
              <a:spcAft>
                <a:spcPts val="500"/>
              </a:spcAft>
            </a:pPr>
            <a:r>
              <a:rPr sz="1200" b="0" i="0">
                <a:solidFill>
                  <a:srgbClr val="A8D8D5"/>
                </a:solidFill>
                <a:latin typeface="Segoe UI"/>
              </a:rPr>
              <a:t>Phase One  ·  Progress Review</a:t>
            </a:r>
          </a:p>
        </p:txBody>
      </p:sp>
      <p:sp>
        <p:nvSpPr>
          <p:cNvPr id="4" name="TextBox 3"/>
          <p:cNvSpPr txBox="1"/>
          <p:nvPr/>
        </p:nvSpPr>
        <p:spPr>
          <a:xfrm>
            <a:off x="411480" y="2743200"/>
            <a:ext cx="4206240" cy="1371600"/>
          </a:xfrm>
          <a:prstGeom prst="rect">
            <a:avLst/>
          </a:prstGeom>
          <a:noFill/>
        </p:spPr>
        <p:txBody>
          <a:bodyPr wrap="square" lIns="0" rIns="0" tIns="0" bIns="0">
            <a:spAutoFit/>
          </a:bodyPr>
          <a:lstStyle/>
          <a:p>
            <a:pPr algn="l">
              <a:spcAft>
                <a:spcPts val="100"/>
              </a:spcAft>
            </a:pPr>
            <a:r>
              <a:rPr sz="1400" b="1" i="0">
                <a:solidFill>
                  <a:srgbClr val="121A20"/>
                </a:solidFill>
                <a:latin typeface="Segoe UI"/>
              </a:rPr>
              <a:t>Vinay Reddy Galigutta</a:t>
            </a:r>
          </a:p>
          <a:p>
            <a:pPr algn="l">
              <a:spcAft>
                <a:spcPts val="100"/>
              </a:spcAft>
            </a:pPr>
            <a:r>
              <a:rPr sz="1150" b="0" i="0">
                <a:solidFill>
                  <a:srgbClr val="657782"/>
                </a:solidFill>
                <a:latin typeface="Segoe UI"/>
              </a:rPr>
              <a:t>Roll No: 25CS60R85</a:t>
            </a:r>
          </a:p>
          <a:p>
            <a:pPr algn="l">
              <a:spcAft>
                <a:spcPts val="500"/>
              </a:spcAft>
            </a:pPr>
            <a:r>
              <a:rPr sz="1150" b="0" i="0">
                <a:solidFill>
                  <a:srgbClr val="657782"/>
                </a:solidFill>
                <a:latin typeface="Segoe UI"/>
              </a:rPr>
              <a:t>M.Tech CSE, IIT Kharagpur</a:t>
            </a:r>
          </a:p>
        </p:txBody>
      </p:sp>
      <p:sp>
        <p:nvSpPr>
          <p:cNvPr id="5" name="TextBox 4"/>
          <p:cNvSpPr txBox="1"/>
          <p:nvPr/>
        </p:nvSpPr>
        <p:spPr>
          <a:xfrm>
            <a:off x="5120640" y="2743200"/>
            <a:ext cx="3566160" cy="1371600"/>
          </a:xfrm>
          <a:prstGeom prst="rect">
            <a:avLst/>
          </a:prstGeom>
          <a:noFill/>
        </p:spPr>
        <p:txBody>
          <a:bodyPr wrap="square" lIns="0" rIns="0" tIns="0" bIns="0">
            <a:spAutoFit/>
          </a:bodyPr>
          <a:lstStyle/>
          <a:p>
            <a:pPr algn="l">
              <a:spcAft>
                <a:spcPts val="100"/>
              </a:spcAft>
            </a:pPr>
            <a:r>
              <a:rPr sz="1400" b="1" i="0">
                <a:solidFill>
                  <a:srgbClr val="121A20"/>
                </a:solidFill>
                <a:latin typeface="Segoe UI"/>
              </a:rPr>
              <a:t>Prof. K. Sreenivasa Rao</a:t>
            </a:r>
          </a:p>
          <a:p>
            <a:pPr algn="l">
              <a:spcAft>
                <a:spcPts val="100"/>
              </a:spcAft>
            </a:pPr>
            <a:r>
              <a:rPr sz="1150" b="0" i="0">
                <a:solidFill>
                  <a:srgbClr val="657782"/>
                </a:solidFill>
                <a:latin typeface="Segoe UI"/>
              </a:rPr>
              <a:t>Professor</a:t>
            </a:r>
          </a:p>
          <a:p>
            <a:pPr algn="l">
              <a:spcAft>
                <a:spcPts val="500"/>
              </a:spcAft>
            </a:pPr>
            <a:r>
              <a:rPr sz="1150" b="0" i="0">
                <a:solidFill>
                  <a:srgbClr val="657782"/>
                </a:solidFill>
                <a:latin typeface="Segoe UI"/>
              </a:rPr>
              <a:t>IIT Kharagpur</a:t>
            </a:r>
          </a:p>
        </p:txBody>
      </p:sp>
      <p:sp>
        <p:nvSpPr>
          <p:cNvPr id="6" name="TextBox 5"/>
          <p:cNvSpPr txBox="1"/>
          <p:nvPr/>
        </p:nvSpPr>
        <p:spPr>
          <a:xfrm>
            <a:off x="411480" y="4526280"/>
            <a:ext cx="8321040" cy="365760"/>
          </a:xfrm>
          <a:prstGeom prst="rect">
            <a:avLst/>
          </a:prstGeom>
          <a:noFill/>
        </p:spPr>
        <p:txBody>
          <a:bodyPr wrap="square" lIns="0" rIns="0" tIns="0" bIns="0">
            <a:spAutoFit/>
          </a:bodyPr>
          <a:lstStyle/>
          <a:p>
            <a:pPr algn="l">
              <a:spcAft>
                <a:spcPts val="500"/>
              </a:spcAft>
            </a:pPr>
            <a:r>
              <a:rPr sz="1000" b="0" i="1">
                <a:solidFill>
                  <a:srgbClr val="657782"/>
                </a:solidFill>
                <a:latin typeface="Segoe UI"/>
              </a:rPr>
              <a:t>Reproduction of Moon et al., arXiv:2603.12837  ·  no reference implementation exists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What has changed since the last review</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Everything below post-dates the 14 September deck</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1000"/>
              </a:spcAft>
            </a:pPr>
            <a:r>
              <a:rPr sz="1300" b="0" i="0">
                <a:solidFill>
                  <a:srgbClr val="121A20"/>
                </a:solidFill>
                <a:latin typeface="Segoe UI"/>
              </a:rPr>
              <a:t>The last presentation ended at the padding-fix and vocoder work. Since then the project ran five complete campaigns and reached a measured ceiling.</a:t>
            </a:r>
          </a:p>
          <a:p>
            <a:pPr>
              <a:spcAft>
                <a:spcPts val="700"/>
              </a:spcAft>
            </a:pPr>
            <a:r>
              <a:rPr sz="1300" b="1">
                <a:solidFill>
                  <a:srgbClr val="2C6E49"/>
                </a:solidFill>
                <a:latin typeface="Segoe UI"/>
              </a:rPr>
              <a:t>Catastrophic outliers  —  </a:t>
            </a:r>
            <a:r>
              <a:rPr sz="1300">
                <a:solidFill>
                  <a:srgbClr val="121A20"/>
                </a:solidFill>
                <a:latin typeface="Segoe UI"/>
              </a:rPr>
              <a:t>diagnosed at t≈0 and cut 3.6× — 12.7% → 3.5%</a:t>
            </a:r>
          </a:p>
          <a:p>
            <a:pPr>
              <a:spcAft>
                <a:spcPts val="700"/>
              </a:spcAft>
            </a:pPr>
            <a:r>
              <a:rPr sz="1300" b="1">
                <a:solidFill>
                  <a:srgbClr val="2C6E49"/>
                </a:solidFill>
                <a:latin typeface="Segoe UI"/>
              </a:rPr>
              <a:t>Multi-speaker  —  </a:t>
            </a:r>
            <a:r>
              <a:rPr sz="1300">
                <a:solidFill>
                  <a:srgbClr val="121A20"/>
                </a:solidFill>
                <a:latin typeface="Segoe UI"/>
              </a:rPr>
              <a:t>3 and 4 speakers were never trained on; now +5.2 / +4.1 pp</a:t>
            </a:r>
          </a:p>
          <a:p>
            <a:pPr>
              <a:spcAft>
                <a:spcPts val="700"/>
              </a:spcAft>
            </a:pPr>
            <a:r>
              <a:rPr sz="1300" b="1">
                <a:solidFill>
                  <a:srgbClr val="2C6E49"/>
                </a:solidFill>
                <a:latin typeface="Segoe UI"/>
              </a:rPr>
              <a:t>Cross-corpus  —  </a:t>
            </a:r>
            <a:r>
              <a:rPr sz="1300">
                <a:solidFill>
                  <a:srgbClr val="121A20"/>
                </a:solidFill>
                <a:latin typeface="Segoe UI"/>
              </a:rPr>
              <a:t>validated on Libri2Mix, a corpus we did not build</a:t>
            </a:r>
          </a:p>
          <a:p>
            <a:pPr>
              <a:spcAft>
                <a:spcPts val="700"/>
              </a:spcAft>
            </a:pPr>
            <a:r>
              <a:rPr sz="1300" b="1">
                <a:solidFill>
                  <a:srgbClr val="2C6E49"/>
                </a:solidFill>
                <a:latin typeface="Segoe UI"/>
              </a:rPr>
              <a:t>Low-SNR gap  —  </a:t>
            </a:r>
            <a:r>
              <a:rPr sz="1300">
                <a:solidFill>
                  <a:srgbClr val="121A20"/>
                </a:solidFill>
                <a:latin typeface="Segoe UI"/>
              </a:rPr>
              <a:t>the system was WORSE than doing nothing below 1 dB; now +19 pp</a:t>
            </a:r>
          </a:p>
          <a:p>
            <a:pPr>
              <a:spcAft>
                <a:spcPts val="700"/>
              </a:spcAft>
            </a:pPr>
            <a:r>
              <a:rPr sz="1300" b="1">
                <a:solidFill>
                  <a:srgbClr val="B07818"/>
                </a:solidFill>
                <a:latin typeface="Segoe UI"/>
              </a:rPr>
              <a:t>Onset defect  —  </a:t>
            </a:r>
            <a:r>
              <a:rPr sz="1300">
                <a:solidFill>
                  <a:srgbClr val="121A20"/>
                </a:solidFill>
                <a:latin typeface="Segoe UI"/>
              </a:rPr>
              <a:t>found by ear, root-caused as a stage interaction, still open</a:t>
            </a:r>
          </a:p>
          <a:p>
            <a:pPr>
              <a:spcAft>
                <a:spcPts val="700"/>
              </a:spcAft>
            </a:pPr>
            <a:r>
              <a:rPr sz="1300" b="1">
                <a:solidFill>
                  <a:srgbClr val="0E6F6B"/>
                </a:solidFill>
                <a:latin typeface="Segoe UI"/>
              </a:rPr>
              <a:t>Ceiling analysis  —  </a:t>
            </a:r>
            <a:r>
              <a:rPr sz="1300">
                <a:solidFill>
                  <a:srgbClr val="121A20"/>
                </a:solidFill>
                <a:latin typeface="Segoe UI"/>
              </a:rPr>
              <a:t>remaining headroom quantified — and it is not where we assumed</a:t>
            </a:r>
          </a:p>
          <a:p>
            <a:pPr algn="l">
              <a:spcAft>
                <a:spcPts val="0"/>
              </a:spcAft>
            </a:pPr>
            <a:r>
              <a:rPr sz="1300" b="1" i="0">
                <a:solidFill>
                  <a:srgbClr val="0E6F6B"/>
                </a:solidFill>
                <a:latin typeface="Segoe UI"/>
              </a:rPr>
              <a:t>15 candidate changes were formally evaluated:  4 promoted, 11 rejected.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Where the system stands today</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All figures from job 11112, the deployed configuration</a:t>
            </a:r>
          </a:p>
        </p:txBody>
      </p:sp>
      <p:sp>
        <p:nvSpPr>
          <p:cNvPr id="5" name="TextBox 4"/>
          <p:cNvSpPr txBox="1"/>
          <p:nvPr/>
        </p:nvSpPr>
        <p:spPr>
          <a:xfrm>
            <a:off x="411480" y="1188720"/>
            <a:ext cx="320040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Condition</a:t>
            </a:r>
          </a:p>
        </p:txBody>
      </p:sp>
      <p:sp>
        <p:nvSpPr>
          <p:cNvPr id="6" name="TextBox 5"/>
          <p:cNvSpPr txBox="1"/>
          <p:nvPr/>
        </p:nvSpPr>
        <p:spPr>
          <a:xfrm>
            <a:off x="3611880" y="1188720"/>
            <a:ext cx="1554480" cy="274320"/>
          </a:xfrm>
          <a:prstGeom prst="rect">
            <a:avLst/>
          </a:prstGeom>
          <a:noFill/>
        </p:spPr>
        <p:txBody>
          <a:bodyPr wrap="square" lIns="0" rIns="0" tIns="0" bIns="0">
            <a:spAutoFit/>
          </a:bodyPr>
          <a:lstStyle/>
          <a:p>
            <a:pPr algn="ctr">
              <a:spcAft>
                <a:spcPts val="0"/>
              </a:spcAft>
            </a:pPr>
            <a:r>
              <a:rPr sz="1050" b="1" i="0">
                <a:solidFill>
                  <a:srgbClr val="657782"/>
                </a:solidFill>
                <a:latin typeface="Segoe UI"/>
              </a:rPr>
              <a:t>Do nothing</a:t>
            </a:r>
          </a:p>
        </p:txBody>
      </p:sp>
      <p:sp>
        <p:nvSpPr>
          <p:cNvPr id="7" name="TextBox 6"/>
          <p:cNvSpPr txBox="1"/>
          <p:nvPr/>
        </p:nvSpPr>
        <p:spPr>
          <a:xfrm>
            <a:off x="5166360" y="1188720"/>
            <a:ext cx="1554480" cy="274320"/>
          </a:xfrm>
          <a:prstGeom prst="rect">
            <a:avLst/>
          </a:prstGeom>
          <a:noFill/>
        </p:spPr>
        <p:txBody>
          <a:bodyPr wrap="square" lIns="0" rIns="0" tIns="0" bIns="0">
            <a:spAutoFit/>
          </a:bodyPr>
          <a:lstStyle/>
          <a:p>
            <a:pPr algn="ctr">
              <a:spcAft>
                <a:spcPts val="0"/>
              </a:spcAft>
            </a:pPr>
            <a:r>
              <a:rPr sz="1050" b="1" i="0">
                <a:solidFill>
                  <a:srgbClr val="657782"/>
                </a:solidFill>
                <a:latin typeface="Segoe UI"/>
              </a:rPr>
              <a:t>This system</a:t>
            </a:r>
          </a:p>
        </p:txBody>
      </p:sp>
      <p:sp>
        <p:nvSpPr>
          <p:cNvPr id="8" name="TextBox 7"/>
          <p:cNvSpPr txBox="1"/>
          <p:nvPr/>
        </p:nvSpPr>
        <p:spPr>
          <a:xfrm>
            <a:off x="6720840" y="1188720"/>
            <a:ext cx="1463040" cy="274320"/>
          </a:xfrm>
          <a:prstGeom prst="rect">
            <a:avLst/>
          </a:prstGeom>
          <a:noFill/>
        </p:spPr>
        <p:txBody>
          <a:bodyPr wrap="square" lIns="0" rIns="0" tIns="0" bIns="0">
            <a:spAutoFit/>
          </a:bodyPr>
          <a:lstStyle/>
          <a:p>
            <a:pPr algn="ctr">
              <a:spcAft>
                <a:spcPts val="0"/>
              </a:spcAft>
            </a:pPr>
            <a:r>
              <a:rPr sz="1050" b="1" i="0">
                <a:solidFill>
                  <a:srgbClr val="657782"/>
                </a:solidFill>
                <a:latin typeface="Segoe UI"/>
              </a:rPr>
              <a:t>Ceiling</a:t>
            </a:r>
          </a:p>
        </p:txBody>
      </p:sp>
      <p:sp>
        <p:nvSpPr>
          <p:cNvPr id="9" name="TextBox 8"/>
          <p:cNvSpPr txBox="1"/>
          <p:nvPr/>
        </p:nvSpPr>
        <p:spPr>
          <a:xfrm>
            <a:off x="411480" y="1499616"/>
            <a:ext cx="320040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Corpus-wide accuracy (n=400)</a:t>
            </a:r>
          </a:p>
        </p:txBody>
      </p:sp>
      <p:sp>
        <p:nvSpPr>
          <p:cNvPr id="10" name="TextBox 9"/>
          <p:cNvSpPr txBox="1"/>
          <p:nvPr/>
        </p:nvSpPr>
        <p:spPr>
          <a:xfrm>
            <a:off x="3611880" y="1499616"/>
            <a:ext cx="155448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71.0%</a:t>
            </a:r>
          </a:p>
        </p:txBody>
      </p:sp>
      <p:sp>
        <p:nvSpPr>
          <p:cNvPr id="11" name="TextBox 10"/>
          <p:cNvSpPr txBox="1"/>
          <p:nvPr/>
        </p:nvSpPr>
        <p:spPr>
          <a:xfrm>
            <a:off x="5166360" y="1499616"/>
            <a:ext cx="1554480" cy="274320"/>
          </a:xfrm>
          <a:prstGeom prst="rect">
            <a:avLst/>
          </a:prstGeom>
          <a:noFill/>
        </p:spPr>
        <p:txBody>
          <a:bodyPr wrap="square" lIns="0" rIns="0" tIns="0" bIns="0">
            <a:spAutoFit/>
          </a:bodyPr>
          <a:lstStyle/>
          <a:p>
            <a:pPr algn="ctr">
              <a:spcAft>
                <a:spcPts val="0"/>
              </a:spcAft>
            </a:pPr>
            <a:r>
              <a:rPr sz="1250" b="1" i="0">
                <a:solidFill>
                  <a:srgbClr val="0E6F6B"/>
                </a:solidFill>
                <a:latin typeface="Segoe UI"/>
              </a:rPr>
              <a:t>86.2%</a:t>
            </a:r>
          </a:p>
        </p:txBody>
      </p:sp>
      <p:sp>
        <p:nvSpPr>
          <p:cNvPr id="12" name="TextBox 11"/>
          <p:cNvSpPr txBox="1"/>
          <p:nvPr/>
        </p:nvSpPr>
        <p:spPr>
          <a:xfrm>
            <a:off x="6720840" y="1499616"/>
            <a:ext cx="146304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90.8%</a:t>
            </a:r>
          </a:p>
        </p:txBody>
      </p:sp>
      <p:sp>
        <p:nvSpPr>
          <p:cNvPr id="13" name="TextBox 12"/>
          <p:cNvSpPr txBox="1"/>
          <p:nvPr/>
        </p:nvSpPr>
        <p:spPr>
          <a:xfrm>
            <a:off x="411480" y="1828800"/>
            <a:ext cx="320040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2 speakers (n=300)</a:t>
            </a:r>
          </a:p>
        </p:txBody>
      </p:sp>
      <p:sp>
        <p:nvSpPr>
          <p:cNvPr id="14" name="TextBox 13"/>
          <p:cNvSpPr txBox="1"/>
          <p:nvPr/>
        </p:nvSpPr>
        <p:spPr>
          <a:xfrm>
            <a:off x="3611880" y="1828800"/>
            <a:ext cx="155448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70.3%</a:t>
            </a:r>
          </a:p>
        </p:txBody>
      </p:sp>
      <p:sp>
        <p:nvSpPr>
          <p:cNvPr id="15" name="TextBox 14"/>
          <p:cNvSpPr txBox="1"/>
          <p:nvPr/>
        </p:nvSpPr>
        <p:spPr>
          <a:xfrm>
            <a:off x="5166360" y="1828800"/>
            <a:ext cx="1554480" cy="274320"/>
          </a:xfrm>
          <a:prstGeom prst="rect">
            <a:avLst/>
          </a:prstGeom>
          <a:noFill/>
        </p:spPr>
        <p:txBody>
          <a:bodyPr wrap="square" lIns="0" rIns="0" tIns="0" bIns="0">
            <a:spAutoFit/>
          </a:bodyPr>
          <a:lstStyle/>
          <a:p>
            <a:pPr algn="ctr">
              <a:spcAft>
                <a:spcPts val="0"/>
              </a:spcAft>
            </a:pPr>
            <a:r>
              <a:rPr sz="1250" b="1" i="0">
                <a:solidFill>
                  <a:srgbClr val="0E6F6B"/>
                </a:solidFill>
                <a:latin typeface="Segoe UI"/>
              </a:rPr>
              <a:t>85.7%</a:t>
            </a:r>
          </a:p>
        </p:txBody>
      </p:sp>
      <p:sp>
        <p:nvSpPr>
          <p:cNvPr id="16" name="TextBox 15"/>
          <p:cNvSpPr txBox="1"/>
          <p:nvPr/>
        </p:nvSpPr>
        <p:spPr>
          <a:xfrm>
            <a:off x="6720840" y="1828800"/>
            <a:ext cx="146304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90.3%</a:t>
            </a:r>
          </a:p>
        </p:txBody>
      </p:sp>
      <p:sp>
        <p:nvSpPr>
          <p:cNvPr id="17" name="TextBox 16"/>
          <p:cNvSpPr txBox="1"/>
          <p:nvPr/>
        </p:nvSpPr>
        <p:spPr>
          <a:xfrm>
            <a:off x="411480" y="2157984"/>
            <a:ext cx="320040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3 speakers (n=300)</a:t>
            </a:r>
          </a:p>
        </p:txBody>
      </p:sp>
      <p:sp>
        <p:nvSpPr>
          <p:cNvPr id="18" name="TextBox 17"/>
          <p:cNvSpPr txBox="1"/>
          <p:nvPr/>
        </p:nvSpPr>
        <p:spPr>
          <a:xfrm>
            <a:off x="3611880" y="2157984"/>
            <a:ext cx="155448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64.3%</a:t>
            </a:r>
          </a:p>
        </p:txBody>
      </p:sp>
      <p:sp>
        <p:nvSpPr>
          <p:cNvPr id="19" name="TextBox 18"/>
          <p:cNvSpPr txBox="1"/>
          <p:nvPr/>
        </p:nvSpPr>
        <p:spPr>
          <a:xfrm>
            <a:off x="5166360" y="2157984"/>
            <a:ext cx="1554480" cy="274320"/>
          </a:xfrm>
          <a:prstGeom prst="rect">
            <a:avLst/>
          </a:prstGeom>
          <a:noFill/>
        </p:spPr>
        <p:txBody>
          <a:bodyPr wrap="square" lIns="0" rIns="0" tIns="0" bIns="0">
            <a:spAutoFit/>
          </a:bodyPr>
          <a:lstStyle/>
          <a:p>
            <a:pPr algn="ctr">
              <a:spcAft>
                <a:spcPts val="0"/>
              </a:spcAft>
            </a:pPr>
            <a:r>
              <a:rPr sz="1250" b="1" i="0">
                <a:solidFill>
                  <a:srgbClr val="0E6F6B"/>
                </a:solidFill>
                <a:latin typeface="Segoe UI"/>
              </a:rPr>
              <a:t>80.0%</a:t>
            </a:r>
          </a:p>
        </p:txBody>
      </p:sp>
      <p:sp>
        <p:nvSpPr>
          <p:cNvPr id="20" name="TextBox 19"/>
          <p:cNvSpPr txBox="1"/>
          <p:nvPr/>
        </p:nvSpPr>
        <p:spPr>
          <a:xfrm>
            <a:off x="6720840" y="2157984"/>
            <a:ext cx="146304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90.3%</a:t>
            </a:r>
          </a:p>
        </p:txBody>
      </p:sp>
      <p:sp>
        <p:nvSpPr>
          <p:cNvPr id="21" name="TextBox 20"/>
          <p:cNvSpPr txBox="1"/>
          <p:nvPr/>
        </p:nvSpPr>
        <p:spPr>
          <a:xfrm>
            <a:off x="411480" y="2487168"/>
            <a:ext cx="320040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4 speakers (n=300)</a:t>
            </a:r>
          </a:p>
        </p:txBody>
      </p:sp>
      <p:sp>
        <p:nvSpPr>
          <p:cNvPr id="22" name="TextBox 21"/>
          <p:cNvSpPr txBox="1"/>
          <p:nvPr/>
        </p:nvSpPr>
        <p:spPr>
          <a:xfrm>
            <a:off x="3611880" y="2487168"/>
            <a:ext cx="155448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61.4%</a:t>
            </a:r>
          </a:p>
        </p:txBody>
      </p:sp>
      <p:sp>
        <p:nvSpPr>
          <p:cNvPr id="23" name="TextBox 22"/>
          <p:cNvSpPr txBox="1"/>
          <p:nvPr/>
        </p:nvSpPr>
        <p:spPr>
          <a:xfrm>
            <a:off x="5166360" y="2487168"/>
            <a:ext cx="1554480" cy="274320"/>
          </a:xfrm>
          <a:prstGeom prst="rect">
            <a:avLst/>
          </a:prstGeom>
          <a:noFill/>
        </p:spPr>
        <p:txBody>
          <a:bodyPr wrap="square" lIns="0" rIns="0" tIns="0" bIns="0">
            <a:spAutoFit/>
          </a:bodyPr>
          <a:lstStyle/>
          <a:p>
            <a:pPr algn="ctr">
              <a:spcAft>
                <a:spcPts val="0"/>
              </a:spcAft>
            </a:pPr>
            <a:r>
              <a:rPr sz="1250" b="1" i="0">
                <a:solidFill>
                  <a:srgbClr val="0E6F6B"/>
                </a:solidFill>
                <a:latin typeface="Segoe UI"/>
              </a:rPr>
              <a:t>77.0%</a:t>
            </a:r>
          </a:p>
        </p:txBody>
      </p:sp>
      <p:sp>
        <p:nvSpPr>
          <p:cNvPr id="24" name="TextBox 23"/>
          <p:cNvSpPr txBox="1"/>
          <p:nvPr/>
        </p:nvSpPr>
        <p:spPr>
          <a:xfrm>
            <a:off x="6720840" y="2487168"/>
            <a:ext cx="146304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90.3%</a:t>
            </a:r>
          </a:p>
        </p:txBody>
      </p:sp>
      <p:sp>
        <p:nvSpPr>
          <p:cNvPr id="25" name="TextBox 24"/>
          <p:cNvSpPr txBox="1"/>
          <p:nvPr/>
        </p:nvSpPr>
        <p:spPr>
          <a:xfrm>
            <a:off x="411480" y="2816352"/>
            <a:ext cx="320040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Low SNR [−10,1) dB</a:t>
            </a:r>
          </a:p>
        </p:txBody>
      </p:sp>
      <p:sp>
        <p:nvSpPr>
          <p:cNvPr id="26" name="TextBox 25"/>
          <p:cNvSpPr txBox="1"/>
          <p:nvPr/>
        </p:nvSpPr>
        <p:spPr>
          <a:xfrm>
            <a:off x="3611880" y="2816352"/>
            <a:ext cx="155448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64.0%</a:t>
            </a:r>
          </a:p>
        </p:txBody>
      </p:sp>
      <p:sp>
        <p:nvSpPr>
          <p:cNvPr id="27" name="TextBox 26"/>
          <p:cNvSpPr txBox="1"/>
          <p:nvPr/>
        </p:nvSpPr>
        <p:spPr>
          <a:xfrm>
            <a:off x="5166360" y="2816352"/>
            <a:ext cx="1554480" cy="274320"/>
          </a:xfrm>
          <a:prstGeom prst="rect">
            <a:avLst/>
          </a:prstGeom>
          <a:noFill/>
        </p:spPr>
        <p:txBody>
          <a:bodyPr wrap="square" lIns="0" rIns="0" tIns="0" bIns="0">
            <a:spAutoFit/>
          </a:bodyPr>
          <a:lstStyle/>
          <a:p>
            <a:pPr algn="ctr">
              <a:spcAft>
                <a:spcPts val="0"/>
              </a:spcAft>
            </a:pPr>
            <a:r>
              <a:rPr sz="1250" b="1" i="0">
                <a:solidFill>
                  <a:srgbClr val="0E6F6B"/>
                </a:solidFill>
                <a:latin typeface="Segoe UI"/>
              </a:rPr>
              <a:t>80.3%</a:t>
            </a:r>
          </a:p>
        </p:txBody>
      </p:sp>
      <p:sp>
        <p:nvSpPr>
          <p:cNvPr id="28" name="TextBox 27"/>
          <p:cNvSpPr txBox="1"/>
          <p:nvPr/>
        </p:nvSpPr>
        <p:spPr>
          <a:xfrm>
            <a:off x="6720840" y="2816352"/>
            <a:ext cx="1463040" cy="274320"/>
          </a:xfrm>
          <a:prstGeom prst="rect">
            <a:avLst/>
          </a:prstGeom>
          <a:noFill/>
        </p:spPr>
        <p:txBody>
          <a:bodyPr wrap="square" lIns="0" rIns="0" tIns="0" bIns="0">
            <a:spAutoFit/>
          </a:bodyPr>
          <a:lstStyle/>
          <a:p>
            <a:pPr algn="ctr">
              <a:spcAft>
                <a:spcPts val="0"/>
              </a:spcAft>
            </a:pPr>
            <a:r>
              <a:rPr sz="1250" b="0" i="0">
                <a:solidFill>
                  <a:srgbClr val="121A20"/>
                </a:solidFill>
                <a:latin typeface="Segoe UI"/>
              </a:rPr>
              <a:t>90.3%</a:t>
            </a:r>
          </a:p>
        </p:txBody>
      </p:sp>
      <p:sp>
        <p:nvSpPr>
          <p:cNvPr id="29" name="TextBox 28"/>
          <p:cNvSpPr txBox="1"/>
          <p:nvPr/>
        </p:nvSpPr>
        <p:spPr>
          <a:xfrm>
            <a:off x="411480" y="3255264"/>
            <a:ext cx="8321040" cy="1371600"/>
          </a:xfrm>
          <a:prstGeom prst="rect">
            <a:avLst/>
          </a:prstGeom>
          <a:noFill/>
        </p:spPr>
        <p:txBody>
          <a:bodyPr wrap="square" lIns="0" rIns="0" tIns="0" bIns="0">
            <a:spAutoFit/>
          </a:bodyPr>
          <a:lstStyle/>
          <a:p>
            <a:pPr algn="l">
              <a:spcAft>
                <a:spcPts val="800"/>
              </a:spcAft>
            </a:pPr>
            <a:r>
              <a:rPr sz="1150" b="0" i="0">
                <a:solidFill>
                  <a:srgbClr val="657782"/>
                </a:solidFill>
                <a:latin typeface="Segoe UI"/>
              </a:rPr>
              <a:t>Accuracy = 1 − EER over genuine/impostor trials. The ceiling is the clean target passed through the same vocoder and speaker encoder — so it is what perfect extraction of perfect speech would score.</a:t>
            </a:r>
          </a:p>
          <a:p>
            <a:pPr algn="l">
              <a:spcAft>
                <a:spcPts val="0"/>
              </a:spcAft>
            </a:pPr>
            <a:r>
              <a:rPr sz="1200" b="1" i="0">
                <a:solidFill>
                  <a:srgbClr val="121A20"/>
                </a:solidFill>
                <a:latin typeface="Segoe UI"/>
              </a:rPr>
              <a:t>Signal quality:   in-domain SI-SDR +1.75 dB vs mixture   ·   Libri2Mix +3.39 dB   ·   in-domain catastrophic rate 10.2%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Correction to the last deck</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 claim we made in September turned out to be wrong</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400"/>
              </a:spcAft>
            </a:pPr>
            <a:r>
              <a:rPr sz="1200" b="1" i="0">
                <a:solidFill>
                  <a:srgbClr val="657782"/>
                </a:solidFill>
                <a:latin typeface="Segoe UI"/>
              </a:rPr>
              <a:t>Previously stated:</a:t>
            </a:r>
          </a:p>
        </p:txBody>
      </p:sp>
      <p:sp>
        <p:nvSpPr>
          <p:cNvPr id="6" name="Rounded Rectangle 5"/>
          <p:cNvSpPr/>
          <p:nvPr/>
        </p:nvSpPr>
        <p:spPr>
          <a:xfrm>
            <a:off x="411480" y="1325880"/>
            <a:ext cx="8321040" cy="566928"/>
          </a:xfrm>
          <a:prstGeom prst="roundRect">
            <a:avLst/>
          </a:prstGeom>
          <a:solidFill>
            <a:srgbClr val="F6E6E6"/>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26464"/>
            <a:ext cx="8046720" cy="457200"/>
          </a:xfrm>
          <a:prstGeom prst="rect">
            <a:avLst/>
          </a:prstGeom>
          <a:noFill/>
        </p:spPr>
        <p:txBody>
          <a:bodyPr wrap="square" lIns="0" rIns="0" tIns="0" bIns="0">
            <a:spAutoFit/>
          </a:bodyPr>
          <a:lstStyle/>
          <a:p>
            <a:pPr algn="l">
              <a:spcAft>
                <a:spcPts val="0"/>
              </a:spcAft>
            </a:pPr>
            <a:r>
              <a:rPr sz="1200" b="0" i="1">
                <a:solidFill>
                  <a:srgbClr val="9E3535"/>
                </a:solidFill>
                <a:latin typeface="Segoe UI"/>
              </a:rPr>
              <a:t>“This project confirmed the paper's target regime (D≈100%, I≈0%) on real data: the mask removes energy and never adds it.”</a:t>
            </a:r>
          </a:p>
        </p:txBody>
      </p:sp>
      <p:sp>
        <p:nvSpPr>
          <p:cNvPr id="8" name="TextBox 7"/>
          <p:cNvSpPr txBox="1"/>
          <p:nvPr/>
        </p:nvSpPr>
        <p:spPr>
          <a:xfrm>
            <a:off x="411480" y="2084831"/>
            <a:ext cx="8321040" cy="2743200"/>
          </a:xfrm>
          <a:prstGeom prst="rect">
            <a:avLst/>
          </a:prstGeom>
          <a:noFill/>
        </p:spPr>
        <p:txBody>
          <a:bodyPr wrap="square" lIns="0" rIns="0" tIns="0" bIns="0">
            <a:spAutoFit/>
          </a:bodyPr>
          <a:lstStyle/>
          <a:p>
            <a:pPr algn="l">
              <a:spcAft>
                <a:spcPts val="600"/>
              </a:spcAft>
            </a:pPr>
            <a:r>
              <a:rPr sz="1300" b="1" i="0">
                <a:solidFill>
                  <a:srgbClr val="121A20"/>
                </a:solidFill>
                <a:latin typeface="Segoe UI"/>
              </a:rPr>
              <a:t>Why that is false here</a:t>
            </a:r>
          </a:p>
          <a:p>
            <a:pPr algn="l">
              <a:spcAft>
                <a:spcPts val="600"/>
              </a:spcAft>
            </a:pPr>
            <a:r>
              <a:rPr sz="1250" b="0" i="0">
                <a:solidFill>
                  <a:srgbClr val="121A20"/>
                </a:solidFill>
                <a:latin typeface="Segoe UI"/>
              </a:rPr>
              <a:t>Our log-mel is log(mel + 1e−8), so every bin quieter than unit power is NEGATIVE. Multiplying a negative value by a mask in [0,1] moves it toward zero — that is, makes it LOUDER.</a:t>
            </a:r>
          </a:p>
          <a:p>
            <a:pPr algn="l">
              <a:spcAft>
                <a:spcPts val="600"/>
              </a:spcAft>
            </a:pPr>
            <a:r>
              <a:rPr sz="1250" b="1" i="0">
                <a:solidFill>
                  <a:srgbClr val="9E3535"/>
                </a:solidFill>
                <a:latin typeface="Segoe UI"/>
              </a:rPr>
              <a:t>Measured on real audio:  74.2% of mixture bins are negative at low SNR, and 73.5% of target bins are unreachable by ANY mask in [0,1].</a:t>
            </a:r>
          </a:p>
          <a:p>
            <a:pPr algn="l">
              <a:spcAft>
                <a:spcPts val="0"/>
              </a:spcAft>
            </a:pPr>
            <a:r>
              <a:rPr sz="1250" b="0" i="0">
                <a:solidFill>
                  <a:srgbClr val="121A20"/>
                </a:solidFill>
                <a:latin typeface="Segoe UI"/>
              </a:rPr>
              <a:t>The paper specifies neither the log offset nor the base, so this is an under-specified paper detail rather than an implementation bug — but it became the central question of the low-SNR campaign, and the oracle experiment later priced it at 16.9 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Five campaigns, in order</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Each one starts from a measured failure, not a guess</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p:txBody>
      </p:sp>
      <p:sp>
        <p:nvSpPr>
          <p:cNvPr id="6" name="Rounded Rectangle 5"/>
          <p:cNvSpPr/>
          <p:nvPr/>
        </p:nvSpPr>
        <p:spPr>
          <a:xfrm>
            <a:off x="411480" y="1143000"/>
            <a:ext cx="8321040" cy="566928"/>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 y="1261872"/>
            <a:ext cx="365760" cy="365760"/>
          </a:xfrm>
          <a:prstGeom prst="rect">
            <a:avLst/>
          </a:prstGeom>
          <a:noFill/>
        </p:spPr>
        <p:txBody>
          <a:bodyPr wrap="square" lIns="0" rIns="0" tIns="0" bIns="0">
            <a:spAutoFit/>
          </a:bodyPr>
          <a:lstStyle/>
          <a:p>
            <a:pPr algn="l">
              <a:spcAft>
                <a:spcPts val="0"/>
              </a:spcAft>
            </a:pPr>
            <a:r>
              <a:rPr sz="1800" b="1" i="0">
                <a:solidFill>
                  <a:srgbClr val="2C6E49"/>
                </a:solidFill>
                <a:latin typeface="Segoe UI"/>
              </a:rPr>
              <a:t>1</a:t>
            </a:r>
          </a:p>
        </p:txBody>
      </p:sp>
      <p:sp>
        <p:nvSpPr>
          <p:cNvPr id="8" name="TextBox 7"/>
          <p:cNvSpPr txBox="1"/>
          <p:nvPr/>
        </p:nvSpPr>
        <p:spPr>
          <a:xfrm>
            <a:off x="978408" y="1207008"/>
            <a:ext cx="3200400" cy="457200"/>
          </a:xfrm>
          <a:prstGeom prst="rect">
            <a:avLst/>
          </a:prstGeom>
          <a:noFill/>
        </p:spPr>
        <p:txBody>
          <a:bodyPr wrap="square" lIns="0" rIns="0" tIns="0" bIns="0">
            <a:spAutoFit/>
          </a:bodyPr>
          <a:lstStyle/>
          <a:p>
            <a:pPr algn="l">
              <a:spcAft>
                <a:spcPts val="0"/>
              </a:spcAft>
            </a:pPr>
            <a:r>
              <a:rPr sz="1300" b="1" i="0">
                <a:solidFill>
                  <a:srgbClr val="121A20"/>
                </a:solidFill>
                <a:latin typeface="Segoe UI"/>
              </a:rPr>
              <a:t>t≈0 catastrophic outliers</a:t>
            </a:r>
          </a:p>
        </p:txBody>
      </p:sp>
      <p:sp>
        <p:nvSpPr>
          <p:cNvPr id="9" name="TextBox 8"/>
          <p:cNvSpPr txBox="1"/>
          <p:nvPr/>
        </p:nvSpPr>
        <p:spPr>
          <a:xfrm>
            <a:off x="4251960" y="1271016"/>
            <a:ext cx="3017520" cy="365760"/>
          </a:xfrm>
          <a:prstGeom prst="rect">
            <a:avLst/>
          </a:prstGeom>
          <a:noFill/>
        </p:spPr>
        <p:txBody>
          <a:bodyPr wrap="square" lIns="0" rIns="0" tIns="0" bIns="0">
            <a:spAutoFit/>
          </a:bodyPr>
          <a:lstStyle/>
          <a:p>
            <a:pPr algn="l">
              <a:spcAft>
                <a:spcPts val="0"/>
              </a:spcAft>
            </a:pPr>
            <a:r>
              <a:rPr sz="1150" b="0" i="0">
                <a:solidFill>
                  <a:srgbClr val="657782"/>
                </a:solidFill>
                <a:latin typeface="Segoe UI"/>
              </a:rPr>
              <a:t>12.7% → 3.5% catastrophic</a:t>
            </a:r>
          </a:p>
        </p:txBody>
      </p:sp>
      <p:sp>
        <p:nvSpPr>
          <p:cNvPr id="10" name="Rounded Rectangle 9"/>
          <p:cNvSpPr/>
          <p:nvPr/>
        </p:nvSpPr>
        <p:spPr>
          <a:xfrm>
            <a:off x="7525512" y="1298448"/>
            <a:ext cx="1078992" cy="237744"/>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11" name="Rounded Rectangle 10"/>
          <p:cNvSpPr/>
          <p:nvPr/>
        </p:nvSpPr>
        <p:spPr>
          <a:xfrm>
            <a:off x="411480" y="1783080"/>
            <a:ext cx="8321040" cy="566928"/>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1901952"/>
            <a:ext cx="365760" cy="365760"/>
          </a:xfrm>
          <a:prstGeom prst="rect">
            <a:avLst/>
          </a:prstGeom>
          <a:noFill/>
        </p:spPr>
        <p:txBody>
          <a:bodyPr wrap="square" lIns="0" rIns="0" tIns="0" bIns="0">
            <a:spAutoFit/>
          </a:bodyPr>
          <a:lstStyle/>
          <a:p>
            <a:pPr algn="l">
              <a:spcAft>
                <a:spcPts val="0"/>
              </a:spcAft>
            </a:pPr>
            <a:r>
              <a:rPr sz="1800" b="1" i="0">
                <a:solidFill>
                  <a:srgbClr val="2C6E49"/>
                </a:solidFill>
                <a:latin typeface="Segoe UI"/>
              </a:rPr>
              <a:t>2</a:t>
            </a:r>
          </a:p>
        </p:txBody>
      </p:sp>
      <p:sp>
        <p:nvSpPr>
          <p:cNvPr id="13" name="TextBox 12"/>
          <p:cNvSpPr txBox="1"/>
          <p:nvPr/>
        </p:nvSpPr>
        <p:spPr>
          <a:xfrm>
            <a:off x="978408" y="1847088"/>
            <a:ext cx="3200400" cy="457200"/>
          </a:xfrm>
          <a:prstGeom prst="rect">
            <a:avLst/>
          </a:prstGeom>
          <a:noFill/>
        </p:spPr>
        <p:txBody>
          <a:bodyPr wrap="square" lIns="0" rIns="0" tIns="0" bIns="0">
            <a:spAutoFit/>
          </a:bodyPr>
          <a:lstStyle/>
          <a:p>
            <a:pPr algn="l">
              <a:spcAft>
                <a:spcPts val="0"/>
              </a:spcAft>
            </a:pPr>
            <a:r>
              <a:rPr sz="1300" b="1" i="0">
                <a:solidFill>
                  <a:srgbClr val="121A20"/>
                </a:solidFill>
                <a:latin typeface="Segoe UI"/>
              </a:rPr>
              <a:t>Speaker-count generalization</a:t>
            </a:r>
          </a:p>
        </p:txBody>
      </p:sp>
      <p:sp>
        <p:nvSpPr>
          <p:cNvPr id="14" name="TextBox 13"/>
          <p:cNvSpPr txBox="1"/>
          <p:nvPr/>
        </p:nvSpPr>
        <p:spPr>
          <a:xfrm>
            <a:off x="4251960" y="1911096"/>
            <a:ext cx="3017520" cy="365760"/>
          </a:xfrm>
          <a:prstGeom prst="rect">
            <a:avLst/>
          </a:prstGeom>
          <a:noFill/>
        </p:spPr>
        <p:txBody>
          <a:bodyPr wrap="square" lIns="0" rIns="0" tIns="0" bIns="0">
            <a:spAutoFit/>
          </a:bodyPr>
          <a:lstStyle/>
          <a:p>
            <a:pPr algn="l">
              <a:spcAft>
                <a:spcPts val="0"/>
              </a:spcAft>
            </a:pPr>
            <a:r>
              <a:rPr sz="1150" b="0" i="0">
                <a:solidFill>
                  <a:srgbClr val="657782"/>
                </a:solidFill>
                <a:latin typeface="Segoe UI"/>
              </a:rPr>
              <a:t>4-spk 72.6% → 77.0%</a:t>
            </a:r>
          </a:p>
        </p:txBody>
      </p:sp>
      <p:sp>
        <p:nvSpPr>
          <p:cNvPr id="15" name="Rounded Rectangle 14"/>
          <p:cNvSpPr/>
          <p:nvPr/>
        </p:nvSpPr>
        <p:spPr>
          <a:xfrm>
            <a:off x="7525512" y="1938528"/>
            <a:ext cx="1078992" cy="237744"/>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16" name="Rounded Rectangle 15"/>
          <p:cNvSpPr/>
          <p:nvPr/>
        </p:nvSpPr>
        <p:spPr>
          <a:xfrm>
            <a:off x="411480" y="2423160"/>
            <a:ext cx="8321040" cy="566928"/>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2542032"/>
            <a:ext cx="365760" cy="365760"/>
          </a:xfrm>
          <a:prstGeom prst="rect">
            <a:avLst/>
          </a:prstGeom>
          <a:noFill/>
        </p:spPr>
        <p:txBody>
          <a:bodyPr wrap="square" lIns="0" rIns="0" tIns="0" bIns="0">
            <a:spAutoFit/>
          </a:bodyPr>
          <a:lstStyle/>
          <a:p>
            <a:pPr algn="l">
              <a:spcAft>
                <a:spcPts val="0"/>
              </a:spcAft>
            </a:pPr>
            <a:r>
              <a:rPr sz="1800" b="1" i="0">
                <a:solidFill>
                  <a:srgbClr val="0E6F6B"/>
                </a:solidFill>
                <a:latin typeface="Segoe UI"/>
              </a:rPr>
              <a:t>3</a:t>
            </a:r>
          </a:p>
        </p:txBody>
      </p:sp>
      <p:sp>
        <p:nvSpPr>
          <p:cNvPr id="18" name="TextBox 17"/>
          <p:cNvSpPr txBox="1"/>
          <p:nvPr/>
        </p:nvSpPr>
        <p:spPr>
          <a:xfrm>
            <a:off x="978408" y="2487168"/>
            <a:ext cx="3200400" cy="457200"/>
          </a:xfrm>
          <a:prstGeom prst="rect">
            <a:avLst/>
          </a:prstGeom>
          <a:noFill/>
        </p:spPr>
        <p:txBody>
          <a:bodyPr wrap="square" lIns="0" rIns="0" tIns="0" bIns="0">
            <a:spAutoFit/>
          </a:bodyPr>
          <a:lstStyle/>
          <a:p>
            <a:pPr algn="l">
              <a:spcAft>
                <a:spcPts val="0"/>
              </a:spcAft>
            </a:pPr>
            <a:r>
              <a:rPr sz="1300" b="1" i="0">
                <a:solidFill>
                  <a:srgbClr val="121A20"/>
                </a:solidFill>
                <a:latin typeface="Segoe UI"/>
              </a:rPr>
              <a:t>Cross-corpus validation</a:t>
            </a:r>
          </a:p>
        </p:txBody>
      </p:sp>
      <p:sp>
        <p:nvSpPr>
          <p:cNvPr id="19" name="TextBox 18"/>
          <p:cNvSpPr txBox="1"/>
          <p:nvPr/>
        </p:nvSpPr>
        <p:spPr>
          <a:xfrm>
            <a:off x="4251960" y="2551176"/>
            <a:ext cx="3017520" cy="365760"/>
          </a:xfrm>
          <a:prstGeom prst="rect">
            <a:avLst/>
          </a:prstGeom>
          <a:noFill/>
        </p:spPr>
        <p:txBody>
          <a:bodyPr wrap="square" lIns="0" rIns="0" tIns="0" bIns="0">
            <a:spAutoFit/>
          </a:bodyPr>
          <a:lstStyle/>
          <a:p>
            <a:pPr algn="l">
              <a:spcAft>
                <a:spcPts val="0"/>
              </a:spcAft>
            </a:pPr>
            <a:r>
              <a:rPr sz="1150" b="0" i="0">
                <a:solidFill>
                  <a:srgbClr val="657782"/>
                </a:solidFill>
                <a:latin typeface="Segoe UI"/>
              </a:rPr>
              <a:t>confirmed on Libri2Mix + found the SNR gap</a:t>
            </a:r>
          </a:p>
        </p:txBody>
      </p:sp>
      <p:sp>
        <p:nvSpPr>
          <p:cNvPr id="20" name="Rounded Rectangle 19"/>
          <p:cNvSpPr/>
          <p:nvPr/>
        </p:nvSpPr>
        <p:spPr>
          <a:xfrm>
            <a:off x="7525512" y="2578608"/>
            <a:ext cx="1078992" cy="237744"/>
          </a:xfrm>
          <a:prstGeom prst="round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DIAGNOSTIC</a:t>
            </a:r>
          </a:p>
        </p:txBody>
      </p:sp>
      <p:sp>
        <p:nvSpPr>
          <p:cNvPr id="21" name="Rounded Rectangle 20"/>
          <p:cNvSpPr/>
          <p:nvPr/>
        </p:nvSpPr>
        <p:spPr>
          <a:xfrm>
            <a:off x="411480" y="3063240"/>
            <a:ext cx="8321040" cy="566928"/>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3182112"/>
            <a:ext cx="365760" cy="365760"/>
          </a:xfrm>
          <a:prstGeom prst="rect">
            <a:avLst/>
          </a:prstGeom>
          <a:noFill/>
        </p:spPr>
        <p:txBody>
          <a:bodyPr wrap="square" lIns="0" rIns="0" tIns="0" bIns="0">
            <a:spAutoFit/>
          </a:bodyPr>
          <a:lstStyle/>
          <a:p>
            <a:pPr algn="l">
              <a:spcAft>
                <a:spcPts val="0"/>
              </a:spcAft>
            </a:pPr>
            <a:r>
              <a:rPr sz="1800" b="1" i="0">
                <a:solidFill>
                  <a:srgbClr val="2C6E49"/>
                </a:solidFill>
                <a:latin typeface="Segoe UI"/>
              </a:rPr>
              <a:t>4</a:t>
            </a:r>
          </a:p>
        </p:txBody>
      </p:sp>
      <p:sp>
        <p:nvSpPr>
          <p:cNvPr id="23" name="TextBox 22"/>
          <p:cNvSpPr txBox="1"/>
          <p:nvPr/>
        </p:nvSpPr>
        <p:spPr>
          <a:xfrm>
            <a:off x="978408" y="3127248"/>
            <a:ext cx="3200400" cy="457200"/>
          </a:xfrm>
          <a:prstGeom prst="rect">
            <a:avLst/>
          </a:prstGeom>
          <a:noFill/>
        </p:spPr>
        <p:txBody>
          <a:bodyPr wrap="square" lIns="0" rIns="0" tIns="0" bIns="0">
            <a:spAutoFit/>
          </a:bodyPr>
          <a:lstStyle/>
          <a:p>
            <a:pPr algn="l">
              <a:spcAft>
                <a:spcPts val="0"/>
              </a:spcAft>
            </a:pPr>
            <a:r>
              <a:rPr sz="1300" b="1" i="0">
                <a:solidFill>
                  <a:srgbClr val="121A20"/>
                </a:solidFill>
                <a:latin typeface="Segoe UI"/>
              </a:rPr>
              <a:t>Low-SNR coverage gap</a:t>
            </a:r>
          </a:p>
        </p:txBody>
      </p:sp>
      <p:sp>
        <p:nvSpPr>
          <p:cNvPr id="24" name="TextBox 23"/>
          <p:cNvSpPr txBox="1"/>
          <p:nvPr/>
        </p:nvSpPr>
        <p:spPr>
          <a:xfrm>
            <a:off x="4251960" y="3191256"/>
            <a:ext cx="3017520" cy="365760"/>
          </a:xfrm>
          <a:prstGeom prst="rect">
            <a:avLst/>
          </a:prstGeom>
          <a:noFill/>
        </p:spPr>
        <p:txBody>
          <a:bodyPr wrap="square" lIns="0" rIns="0" tIns="0" bIns="0">
            <a:spAutoFit/>
          </a:bodyPr>
          <a:lstStyle/>
          <a:p>
            <a:pPr algn="l">
              <a:spcAft>
                <a:spcPts val="0"/>
              </a:spcAft>
            </a:pPr>
            <a:r>
              <a:rPr sz="1150" b="0" i="0">
                <a:solidFill>
                  <a:srgbClr val="657782"/>
                </a:solidFill>
                <a:latin typeface="Segoe UI"/>
              </a:rPr>
              <a:t>61.3% → 80.3%, a 22 dB SI-SDR swing</a:t>
            </a:r>
          </a:p>
        </p:txBody>
      </p:sp>
      <p:sp>
        <p:nvSpPr>
          <p:cNvPr id="25" name="Rounded Rectangle 24"/>
          <p:cNvSpPr/>
          <p:nvPr/>
        </p:nvSpPr>
        <p:spPr>
          <a:xfrm>
            <a:off x="7525512" y="3218688"/>
            <a:ext cx="1078992" cy="237744"/>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26" name="Rounded Rectangle 25"/>
          <p:cNvSpPr/>
          <p:nvPr/>
        </p:nvSpPr>
        <p:spPr>
          <a:xfrm>
            <a:off x="411480" y="3703320"/>
            <a:ext cx="8321040" cy="566928"/>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 y="3822192"/>
            <a:ext cx="365760" cy="365760"/>
          </a:xfrm>
          <a:prstGeom prst="rect">
            <a:avLst/>
          </a:prstGeom>
          <a:noFill/>
        </p:spPr>
        <p:txBody>
          <a:bodyPr wrap="square" lIns="0" rIns="0" tIns="0" bIns="0">
            <a:spAutoFit/>
          </a:bodyPr>
          <a:lstStyle/>
          <a:p>
            <a:pPr algn="l">
              <a:spcAft>
                <a:spcPts val="0"/>
              </a:spcAft>
            </a:pPr>
            <a:r>
              <a:rPr sz="1800" b="1" i="0">
                <a:solidFill>
                  <a:srgbClr val="B07818"/>
                </a:solidFill>
                <a:latin typeface="Segoe UI"/>
              </a:rPr>
              <a:t>5</a:t>
            </a:r>
          </a:p>
        </p:txBody>
      </p:sp>
      <p:sp>
        <p:nvSpPr>
          <p:cNvPr id="28" name="TextBox 27"/>
          <p:cNvSpPr txBox="1"/>
          <p:nvPr/>
        </p:nvSpPr>
        <p:spPr>
          <a:xfrm>
            <a:off x="978408" y="3767328"/>
            <a:ext cx="3200400" cy="457200"/>
          </a:xfrm>
          <a:prstGeom prst="rect">
            <a:avLst/>
          </a:prstGeom>
          <a:noFill/>
        </p:spPr>
        <p:txBody>
          <a:bodyPr wrap="square" lIns="0" rIns="0" tIns="0" bIns="0">
            <a:spAutoFit/>
          </a:bodyPr>
          <a:lstStyle/>
          <a:p>
            <a:pPr algn="l">
              <a:spcAft>
                <a:spcPts val="0"/>
              </a:spcAft>
            </a:pPr>
            <a:r>
              <a:rPr sz="1300" b="1" i="0">
                <a:solidFill>
                  <a:srgbClr val="121A20"/>
                </a:solidFill>
                <a:latin typeface="Segoe UI"/>
              </a:rPr>
              <a:t>Onset gate</a:t>
            </a:r>
          </a:p>
        </p:txBody>
      </p:sp>
      <p:sp>
        <p:nvSpPr>
          <p:cNvPr id="29" name="TextBox 28"/>
          <p:cNvSpPr txBox="1"/>
          <p:nvPr/>
        </p:nvSpPr>
        <p:spPr>
          <a:xfrm>
            <a:off x="4251960" y="3831336"/>
            <a:ext cx="3017520" cy="365760"/>
          </a:xfrm>
          <a:prstGeom prst="rect">
            <a:avLst/>
          </a:prstGeom>
          <a:noFill/>
        </p:spPr>
        <p:txBody>
          <a:bodyPr wrap="square" lIns="0" rIns="0" tIns="0" bIns="0">
            <a:spAutoFit/>
          </a:bodyPr>
          <a:lstStyle/>
          <a:p>
            <a:pPr algn="l">
              <a:spcAft>
                <a:spcPts val="0"/>
              </a:spcAft>
            </a:pPr>
            <a:r>
              <a:rPr sz="1150" b="0" i="0">
                <a:solidFill>
                  <a:srgbClr val="657782"/>
                </a:solidFill>
                <a:latin typeface="Segoe UI"/>
              </a:rPr>
              <a:t>root-caused as a stage interaction</a:t>
            </a:r>
          </a:p>
        </p:txBody>
      </p:sp>
      <p:sp>
        <p:nvSpPr>
          <p:cNvPr id="30" name="Rounded Rectangle 29"/>
          <p:cNvSpPr/>
          <p:nvPr/>
        </p:nvSpPr>
        <p:spPr>
          <a:xfrm>
            <a:off x="7525512" y="3858768"/>
            <a:ext cx="1078992" cy="237744"/>
          </a:xfrm>
          <a:prstGeom prst="roundRect">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OPEN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1 · The problem</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 small number of samples failed catastrophically</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400"/>
              </a:spcAft>
            </a:pPr>
            <a:r>
              <a:rPr sz="1300" b="1" i="0">
                <a:solidFill>
                  <a:srgbClr val="657782"/>
                </a:solidFill>
                <a:latin typeface="Segoe UI"/>
              </a:rPr>
              <a:t>Symptom</a:t>
            </a:r>
          </a:p>
          <a:p>
            <a:pPr algn="l">
              <a:spcAft>
                <a:spcPts val="1000"/>
              </a:spcAft>
            </a:pPr>
            <a:r>
              <a:rPr sz="1300" b="0" i="0">
                <a:solidFill>
                  <a:srgbClr val="121A20"/>
                </a:solidFill>
                <a:latin typeface="Segoe UI"/>
              </a:rPr>
              <a:t>12.7% of test samples came out WORSE than the Stage 1 input they started from — some collapsing to −75 dB SI-SDR. The median looked healthy; the tail did not.</a:t>
            </a:r>
          </a:p>
          <a:p>
            <a:pPr algn="l">
              <a:spcAft>
                <a:spcPts val="400"/>
              </a:spcAft>
            </a:pPr>
            <a:r>
              <a:rPr sz="1300" b="1" i="0">
                <a:solidFill>
                  <a:srgbClr val="657782"/>
                </a:solidFill>
                <a:latin typeface="Segoe UI"/>
              </a:rPr>
              <a:t>Diagnosis</a:t>
            </a:r>
          </a:p>
          <a:p>
            <a:pPr algn="l">
              <a:spcAft>
                <a:spcPts val="1000"/>
              </a:spcAft>
            </a:pPr>
            <a:r>
              <a:rPr sz="1300" b="0" i="0">
                <a:solidFill>
                  <a:srgbClr val="121A20"/>
                </a:solidFill>
                <a:latin typeface="Segoe UI"/>
              </a:rPr>
              <a:t>We instrumented the Euler loop and measured the guidance disagreement at each step. For the failing samples, ‖v_cond − v_uncond‖ at t=0 ran 5–40× its magnitude at every later step.</a:t>
            </a:r>
          </a:p>
          <a:p>
            <a:pPr algn="l">
              <a:spcAft>
                <a:spcPts val="400"/>
              </a:spcAft>
            </a:pPr>
            <a:r>
              <a:rPr sz="1300" b="1" i="0">
                <a:solidFill>
                  <a:srgbClr val="657782"/>
                </a:solidFill>
                <a:latin typeface="Segoe UI"/>
              </a:rPr>
              <a:t>Why that happens</a:t>
            </a:r>
          </a:p>
          <a:p>
            <a:pPr algn="l">
              <a:spcAft>
                <a:spcPts val="0"/>
              </a:spcAft>
            </a:pPr>
            <a:r>
              <a:rPr sz="1300" b="0" i="0">
                <a:solidFill>
                  <a:srgbClr val="121A20"/>
                </a:solidFill>
                <a:latin typeface="Segoe UI"/>
              </a:rPr>
              <a:t>At t=0 the flow input equals Stage 1's output exactly — there is no interpolation signal toward the target yet, so the network must extrapolate the whole trajectory from one frozen point. Classifier-free guidance then multiplies that raw disagreement into an oversized first step that the remaining three steps cannot correct.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1 · What we ruled out first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Three cheaper explanations, all tested and rejected</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spcAft>
                <a:spcPts val="900"/>
              </a:spcAft>
            </a:pPr>
            <a:r>
              <a:rPr sz="1300" b="1">
                <a:solidFill>
                  <a:srgbClr val="9E3535"/>
                </a:solidFill>
                <a:latin typeface="Segoe UI"/>
              </a:rPr>
              <a:t>✕  CFG amplification  —  </a:t>
            </a:r>
            <a:r>
              <a:rPr sz="1300">
                <a:solidFill>
                  <a:srgbClr val="121A20"/>
                </a:solidFill>
                <a:latin typeface="Segoe UI"/>
              </a:rPr>
              <a:t>Lowering the guidance scale did not remove the outliers.</a:t>
            </a:r>
          </a:p>
          <a:p>
            <a:pPr>
              <a:spcAft>
                <a:spcPts val="900"/>
              </a:spcAft>
            </a:pPr>
            <a:r>
              <a:rPr sz="1300" b="1">
                <a:solidFill>
                  <a:srgbClr val="9E3535"/>
                </a:solidFill>
                <a:latin typeface="Segoe UI"/>
              </a:rPr>
              <a:t>✕  CFG warm-up  —  </a:t>
            </a:r>
            <a:r>
              <a:rPr sz="1300">
                <a:solidFill>
                  <a:srgbClr val="121A20"/>
                </a:solidFill>
                <a:latin typeface="Segoe UI"/>
              </a:rPr>
              <a:t>Running the first steps unguided did not remove them either.</a:t>
            </a:r>
          </a:p>
          <a:p>
            <a:pPr>
              <a:spcAft>
                <a:spcPts val="900"/>
              </a:spcAft>
            </a:pPr>
            <a:r>
              <a:rPr sz="1300" b="1">
                <a:solidFill>
                  <a:srgbClr val="9E3535"/>
                </a:solidFill>
                <a:latin typeface="Segoe UI"/>
              </a:rPr>
              <a:t>✕  Euler step count  —  </a:t>
            </a:r>
            <a:r>
              <a:rPr sz="1300">
                <a:solidFill>
                  <a:srgbClr val="121A20"/>
                </a:solidFill>
                <a:latin typeface="Segoe UI"/>
              </a:rPr>
              <a:t>More steps did not help — the damage is done by step one.</a:t>
            </a:r>
          </a:p>
          <a:p>
            <a:pPr algn="l">
              <a:spcAft>
                <a:spcPts val="600"/>
              </a:spcAft>
            </a:pPr>
            <a:r>
              <a:rPr sz="1400" b="1" i="0">
                <a:solidFill>
                  <a:srgbClr val="2C6E49"/>
                </a:solidFill>
                <a:latin typeface="Segoe UI"/>
              </a:rPr>
              <a:t>The fix that worked: retrain, not re-tune</a:t>
            </a:r>
          </a:p>
          <a:p>
            <a:pPr algn="l">
              <a:spcAft>
                <a:spcPts val="800"/>
              </a:spcAft>
            </a:pPr>
            <a:r>
              <a:rPr sz="1300" b="0" i="0">
                <a:solidFill>
                  <a:srgbClr val="121A20"/>
                </a:solidFill>
                <a:latin typeface="Segoe UI"/>
              </a:rPr>
              <a:t>If the model is bad at t≈0 because it rarely trains there, the answer is to train there more. We fine-tuned with t≈0 over-weighted in the sampling distribution — a change to the training curriculum, not to inference.</a:t>
            </a:r>
          </a:p>
          <a:p>
            <a:pPr algn="l">
              <a:spcAft>
                <a:spcPts val="0"/>
              </a:spcAft>
            </a:pPr>
            <a:r>
              <a:rPr sz="1250" b="0" i="1">
                <a:solidFill>
                  <a:srgbClr val="0E6F6B"/>
                </a:solidFill>
                <a:latin typeface="Segoe UI"/>
              </a:rPr>
              <a:t>This became the template for every later campaign: diagnose the coverage gap, then change the curriculum that created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1 · Result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n=2620, full test-clean</a:t>
            </a:r>
          </a:p>
        </p:txBody>
      </p:sp>
      <p:pic>
        <p:nvPicPr>
          <p:cNvPr id="5" name="Picture 4" descr="04_hardt0_fix.png"/>
          <p:cNvPicPr>
            <a:picLocks noChangeAspect="1"/>
          </p:cNvPicPr>
          <p:nvPr/>
        </p:nvPicPr>
        <p:blipFill>
          <a:blip r:embed="rId2"/>
          <a:stretch>
            <a:fillRect/>
          </a:stretch>
        </p:blipFill>
        <p:spPr>
          <a:xfrm>
            <a:off x="474850" y="1051560"/>
            <a:ext cx="8194299" cy="3200400"/>
          </a:xfrm>
          <a:prstGeom prst="rect">
            <a:avLst/>
          </a:prstGeom>
        </p:spPr>
      </p:pic>
      <p:sp>
        <p:nvSpPr>
          <p:cNvPr id="6" name="TextBox 5"/>
          <p:cNvSpPr txBox="1"/>
          <p:nvPr/>
        </p:nvSpPr>
        <p:spPr>
          <a:xfrm>
            <a:off x="411480" y="4370832"/>
            <a:ext cx="8321040" cy="640080"/>
          </a:xfrm>
          <a:prstGeom prst="rect">
            <a:avLst/>
          </a:prstGeom>
          <a:noFill/>
        </p:spPr>
        <p:txBody>
          <a:bodyPr wrap="square" lIns="0" rIns="0" tIns="0" bIns="0">
            <a:spAutoFit/>
          </a:bodyPr>
          <a:lstStyle/>
          <a:p>
            <a:pPr algn="l">
              <a:spcAft>
                <a:spcPts val="0"/>
              </a:spcAft>
            </a:pPr>
            <a:r>
              <a:rPr sz="1200" b="0" i="0">
                <a:solidFill>
                  <a:srgbClr val="121A20"/>
                </a:solidFill>
                <a:latin typeface="Segoe UI"/>
              </a:rPr>
              <a:t>Catastrophic rate fell 3.6× and improved in EVERY SNR bucket — which is what confirmed we had fixed the diagnosed cause, not just moved an aggregate.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2 · Speaker-count generalization</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 gap we created by how we trained</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900"/>
              </a:spcAft>
            </a:pPr>
            <a:r>
              <a:rPr sz="1300" b="0" i="0">
                <a:solidFill>
                  <a:srgbClr val="121A20"/>
                </a:solidFill>
                <a:latin typeface="Segoe UI"/>
              </a:rPr>
              <a:t>The model had only ever been trained on 2-speaker mixtures. Nobody had measured what it does with three or four simultaneous talkers.</a:t>
            </a:r>
          </a:p>
          <a:p>
            <a:pPr algn="l">
              <a:spcAft>
                <a:spcPts val="500"/>
              </a:spcAft>
            </a:pPr>
            <a:r>
              <a:rPr sz="1250" b="1" i="0">
                <a:solidFill>
                  <a:srgbClr val="657782"/>
                </a:solidFill>
                <a:latin typeface="Segoe UI"/>
              </a:rPr>
              <a:t>First measurement (job 10866):</a:t>
            </a:r>
          </a:p>
          <a:p>
            <a:pPr>
              <a:spcAft>
                <a:spcPts val="300"/>
              </a:spcAft>
            </a:pPr>
            <a:r>
              <a:rPr sz="1300">
                <a:solidFill>
                  <a:srgbClr val="121A20"/>
                </a:solidFill>
                <a:latin typeface="Segoe UI"/>
              </a:rPr>
              <a:t>    2 speakers:  </a:t>
            </a:r>
            <a:r>
              <a:rPr sz="1300" b="1">
                <a:solidFill>
                  <a:srgbClr val="121A20"/>
                </a:solidFill>
                <a:latin typeface="Segoe UI"/>
              </a:rPr>
              <a:t>86.3%</a:t>
            </a:r>
          </a:p>
          <a:p>
            <a:pPr>
              <a:spcAft>
                <a:spcPts val="300"/>
              </a:spcAft>
            </a:pPr>
            <a:r>
              <a:rPr sz="1300">
                <a:solidFill>
                  <a:srgbClr val="121A20"/>
                </a:solidFill>
                <a:latin typeface="Segoe UI"/>
              </a:rPr>
              <a:t>    3 speakers:  </a:t>
            </a:r>
            <a:r>
              <a:rPr sz="1300" b="1">
                <a:solidFill>
                  <a:srgbClr val="B07818"/>
                </a:solidFill>
                <a:latin typeface="Segoe UI"/>
              </a:rPr>
              <a:t>76.7%</a:t>
            </a:r>
          </a:p>
          <a:p>
            <a:pPr>
              <a:spcAft>
                <a:spcPts val="300"/>
              </a:spcAft>
            </a:pPr>
            <a:r>
              <a:rPr sz="1300">
                <a:solidFill>
                  <a:srgbClr val="121A20"/>
                </a:solidFill>
                <a:latin typeface="Segoe UI"/>
              </a:rPr>
              <a:t>    4 speakers:  </a:t>
            </a:r>
            <a:r>
              <a:rPr sz="1300" b="1">
                <a:solidFill>
                  <a:srgbClr val="9E3535"/>
                </a:solidFill>
                <a:latin typeface="Segoe UI"/>
              </a:rPr>
              <a:t>72.6%</a:t>
            </a:r>
          </a:p>
          <a:p>
            <a:pPr algn="l">
              <a:spcAft>
                <a:spcPts val="500"/>
              </a:spcAft>
            </a:pPr>
            <a:r>
              <a:rPr sz="1250" b="1" i="0">
                <a:solidFill>
                  <a:srgbClr val="657782"/>
                </a:solidFill>
                <a:latin typeface="Segoe UI"/>
              </a:rPr>
              <a:t>The fix</a:t>
            </a:r>
          </a:p>
          <a:p>
            <a:pPr algn="l">
              <a:spcAft>
                <a:spcPts val="800"/>
              </a:spcAft>
            </a:pPr>
            <a:r>
              <a:rPr sz="1300" b="0" i="0">
                <a:solidFill>
                  <a:srgbClr val="121A20"/>
                </a:solidFill>
                <a:latin typeface="Segoe UI"/>
              </a:rPr>
              <a:t>A speaker-count curriculum during fine-tuning — P(2 speakers)=0.5, P(3)=0.3, P(4)=0.2 — so the model sees the conditions it will be asked about.</a:t>
            </a:r>
          </a:p>
          <a:p>
            <a:pPr algn="l">
              <a:spcAft>
                <a:spcPts val="0"/>
              </a:spcAft>
            </a:pPr>
            <a:r>
              <a:rPr sz="1300" b="1" i="0">
                <a:solidFill>
                  <a:srgbClr val="2C6E49"/>
                </a:solidFill>
                <a:latin typeface="Segoe UI"/>
              </a:rPr>
              <a:t>Result:  3-speaker 76.7 → 81.9%,  4-speaker 72.6 → 76.7%,  2-speaker held flat. The gains land exactly where coverage had been missing, which is the signature of a coverage fix rather than a lucky checkpoint.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3 · Why cross-corpus validation</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Every number so far came from one mixer</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1000"/>
              </a:spcAft>
            </a:pPr>
            <a:r>
              <a:rPr sz="1300" b="0" i="0">
                <a:solidFill>
                  <a:srgbClr val="121A20"/>
                </a:solidFill>
                <a:latin typeface="Segoe UI"/>
              </a:rPr>
              <a:t>All results to this point used our own on-the-fly mixture generator. That leaves an obvious question: are we measuring the system, or the data pipeline we built for it?</a:t>
            </a:r>
          </a:p>
          <a:p>
            <a:pPr algn="l">
              <a:spcAft>
                <a:spcPts val="1000"/>
              </a:spcAft>
            </a:pPr>
            <a:r>
              <a:rPr sz="1300" b="0" i="0">
                <a:solidFill>
                  <a:srgbClr val="121A20"/>
                </a:solidFill>
                <a:latin typeface="Segoe UI"/>
              </a:rPr>
              <a:t>Libri2Mix (JorisCos/LibriMix) is a standard benchmark generated by an independent toolchain. We generated its test set and ran the full pipeline over 6,000 samples.</a:t>
            </a:r>
          </a:p>
          <a:p>
            <a:pPr algn="l">
              <a:spcAft>
                <a:spcPts val="1000"/>
              </a:spcAft>
            </a:pPr>
            <a:r>
              <a:rPr sz="1300" b="0" i="0">
                <a:solidFill>
                  <a:srgbClr val="121A20"/>
                </a:solidFill>
                <a:latin typeface="Segoe UI"/>
              </a:rPr>
              <a:t>This also exercised the variable-length chunked inference path for the first time — Libri2Mix mixtures are real utterances, not our fixed 10-second training window.</a:t>
            </a:r>
          </a:p>
          <a:p>
            <a:pPr algn="l">
              <a:spcAft>
                <a:spcPts val="0"/>
              </a:spcAft>
            </a:pPr>
            <a:r>
              <a:rPr sz="1300" b="1" i="0">
                <a:solidFill>
                  <a:srgbClr val="0E6F6B"/>
                </a:solidFill>
                <a:latin typeface="Segoe UI"/>
              </a:rPr>
              <a:t>The result split into good news and a discovery we did not expect.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3 · The discovery</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aggregate looked bad — and that was informative</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900"/>
              </a:spcAft>
            </a:pPr>
            <a:r>
              <a:rPr sz="1300" b="0" i="0">
                <a:solidFill>
                  <a:srgbClr val="121A20"/>
                </a:solidFill>
                <a:latin typeface="Segoe UI"/>
              </a:rPr>
              <a:t>Raw aggregate:  median mel improvement 23.9%, catastrophic rate 26.7%, SI-SDR vs mixture −0.61 dB. Taken at face value, the system looked broken on an external corpus.</a:t>
            </a:r>
          </a:p>
          <a:p>
            <a:pPr algn="l">
              <a:spcAft>
                <a:spcPts val="500"/>
              </a:spcAft>
            </a:pPr>
            <a:r>
              <a:rPr sz="1300" b="1" i="0">
                <a:solidFill>
                  <a:srgbClr val="0E6F6B"/>
                </a:solidFill>
                <a:latin typeface="Segoe UI"/>
              </a:rPr>
              <a:t>The cause was not generalization failure</a:t>
            </a:r>
          </a:p>
          <a:p>
            <a:pPr algn="l">
              <a:spcAft>
                <a:spcPts val="900"/>
              </a:spcAft>
            </a:pPr>
            <a:r>
              <a:rPr sz="1300" b="0" i="0">
                <a:solidFill>
                  <a:srgbClr val="121A20"/>
                </a:solidFill>
                <a:latin typeface="Segoe UI"/>
              </a:rPr>
              <a:t>Libri2Mix has no SNR floor. Each source is normalized independently, so the target is quieter than the interferer in 60.6% of samples. Our own mixer uses snr_min = 1.0 dB — meaning the model had NEVER, in its entire training history, seen a mixture where the target was the quieter voice.</a:t>
            </a:r>
          </a:p>
          <a:p>
            <a:pPr algn="l">
              <a:spcAft>
                <a:spcPts val="500"/>
              </a:spcAft>
            </a:pPr>
            <a:r>
              <a:rPr sz="1250" b="1" i="0">
                <a:solidFill>
                  <a:srgbClr val="657782"/>
                </a:solidFill>
                <a:latin typeface="Segoe UI"/>
              </a:rPr>
              <a:t>Splitting exactly on that boundary:</a:t>
            </a:r>
          </a:p>
          <a:p>
            <a:pPr algn="l">
              <a:spcAft>
                <a:spcPts val="300"/>
              </a:spcAft>
            </a:pPr>
            <a:r>
              <a:rPr sz="1250" b="0" i="0">
                <a:solidFill>
                  <a:srgbClr val="2C6E49"/>
                </a:solidFill>
                <a:latin typeface="Segoe UI"/>
              </a:rPr>
              <a:t>    In-distribution (≥1 dB):  73.4% median, 5.7% catastrophic  —  consistent with our in-house 77.7% / 3.5%</a:t>
            </a:r>
          </a:p>
          <a:p>
            <a:pPr algn="l">
              <a:spcAft>
                <a:spcPts val="0"/>
              </a:spcAft>
            </a:pPr>
            <a:r>
              <a:rPr sz="1250" b="0" i="0">
                <a:solidFill>
                  <a:srgbClr val="9E3535"/>
                </a:solidFill>
                <a:latin typeface="Segoe UI"/>
              </a:rPr>
              <a:t>    Out-of-distribution (&lt;1 dB):  −19.0% median, 40.3% catastrophic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3 · Coverage, not capability</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shape of the failure identifies its cause</a:t>
            </a:r>
          </a:p>
        </p:txBody>
      </p:sp>
      <p:pic>
        <p:nvPicPr>
          <p:cNvPr id="5" name="Picture 4" descr="03_snr_coverage_gap.png"/>
          <p:cNvPicPr>
            <a:picLocks noChangeAspect="1"/>
          </p:cNvPicPr>
          <p:nvPr/>
        </p:nvPicPr>
        <p:blipFill>
          <a:blip r:embed="rId2"/>
          <a:stretch>
            <a:fillRect/>
          </a:stretch>
        </p:blipFill>
        <p:spPr>
          <a:xfrm>
            <a:off x="753587" y="1051560"/>
            <a:ext cx="7636825" cy="3108960"/>
          </a:xfrm>
          <a:prstGeom prst="rect">
            <a:avLst/>
          </a:prstGeom>
        </p:spPr>
      </p:pic>
      <p:sp>
        <p:nvSpPr>
          <p:cNvPr id="6" name="TextBox 5"/>
          <p:cNvSpPr txBox="1"/>
          <p:nvPr/>
        </p:nvSpPr>
        <p:spPr>
          <a:xfrm>
            <a:off x="411480" y="4297680"/>
            <a:ext cx="8321040" cy="7315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A smooth monotonic trend — not a cliff. Performance degrades in proportion to how far the mixture sits outside the trained range, which is what a training-coverage gap looks like. An architectural limit would not be this orderly.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The low-SNR campaign</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largest single line of work in Phase One</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1000"/>
              </a:spcAft>
            </a:pPr>
            <a:r>
              <a:rPr sz="1300" b="1" i="0">
                <a:solidFill>
                  <a:srgbClr val="9E3535"/>
                </a:solidFill>
                <a:latin typeface="Segoe UI"/>
              </a:rPr>
              <a:t>Target: the sub-1 dB regime where the system was actively harmful — 61.3% accuracy against a 64.0% do-nothing baseline. Running the extractor made things worse.</a:t>
            </a:r>
          </a:p>
          <a:p>
            <a:pPr algn="l">
              <a:spcAft>
                <a:spcPts val="1000"/>
              </a:spcAft>
            </a:pPr>
            <a:r>
              <a:rPr sz="1300" b="0" i="0">
                <a:solidFill>
                  <a:srgbClr val="121A20"/>
                </a:solidFill>
                <a:latin typeface="Segoe UI"/>
              </a:rPr>
              <a:t>This campaign is worth walking through in detail because most of it failed, and the failures are what located the real constraint.</a:t>
            </a:r>
          </a:p>
        </p:txBody>
      </p:sp>
      <p:sp>
        <p:nvSpPr>
          <p:cNvPr id="6" name="TextBox 5"/>
          <p:cNvSpPr txBox="1"/>
          <p:nvPr/>
        </p:nvSpPr>
        <p:spPr>
          <a:xfrm>
            <a:off x="411480" y="2395728"/>
            <a:ext cx="1005840" cy="274320"/>
          </a:xfrm>
          <a:prstGeom prst="rect">
            <a:avLst/>
          </a:prstGeom>
          <a:noFill/>
        </p:spPr>
        <p:txBody>
          <a:bodyPr wrap="square" lIns="0" rIns="0" tIns="0" bIns="0">
            <a:spAutoFit/>
          </a:bodyPr>
          <a:lstStyle/>
          <a:p>
            <a:pPr algn="l">
              <a:spcAft>
                <a:spcPts val="0"/>
              </a:spcAft>
            </a:pPr>
            <a:r>
              <a:rPr sz="1100" b="1" i="0">
                <a:solidFill>
                  <a:srgbClr val="657782"/>
                </a:solidFill>
                <a:latin typeface="Segoe UI"/>
              </a:rPr>
              <a:t>Attempt 1</a:t>
            </a:r>
          </a:p>
        </p:txBody>
      </p:sp>
      <p:sp>
        <p:nvSpPr>
          <p:cNvPr id="7" name="TextBox 6"/>
          <p:cNvSpPr txBox="1"/>
          <p:nvPr/>
        </p:nvSpPr>
        <p:spPr>
          <a:xfrm>
            <a:off x="1463040" y="2395728"/>
            <a:ext cx="47548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50% low-SNR curriculum on Stage 2</a:t>
            </a:r>
          </a:p>
        </p:txBody>
      </p:sp>
      <p:sp>
        <p:nvSpPr>
          <p:cNvPr id="8" name="Rounded Rectangle 7"/>
          <p:cNvSpPr/>
          <p:nvPr/>
        </p:nvSpPr>
        <p:spPr>
          <a:xfrm>
            <a:off x="7525512" y="2377440"/>
            <a:ext cx="1078992" cy="237744"/>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9" name="TextBox 8"/>
          <p:cNvSpPr txBox="1"/>
          <p:nvPr/>
        </p:nvSpPr>
        <p:spPr>
          <a:xfrm>
            <a:off x="411480" y="2761488"/>
            <a:ext cx="1005840" cy="274320"/>
          </a:xfrm>
          <a:prstGeom prst="rect">
            <a:avLst/>
          </a:prstGeom>
          <a:noFill/>
        </p:spPr>
        <p:txBody>
          <a:bodyPr wrap="square" lIns="0" rIns="0" tIns="0" bIns="0">
            <a:spAutoFit/>
          </a:bodyPr>
          <a:lstStyle/>
          <a:p>
            <a:pPr algn="l">
              <a:spcAft>
                <a:spcPts val="0"/>
              </a:spcAft>
            </a:pPr>
            <a:r>
              <a:rPr sz="1100" b="1" i="0">
                <a:solidFill>
                  <a:srgbClr val="657782"/>
                </a:solidFill>
                <a:latin typeface="Segoe UI"/>
              </a:rPr>
              <a:t>Attempt 2</a:t>
            </a:r>
          </a:p>
        </p:txBody>
      </p:sp>
      <p:sp>
        <p:nvSpPr>
          <p:cNvPr id="10" name="TextBox 9"/>
          <p:cNvSpPr txBox="1"/>
          <p:nvPr/>
        </p:nvSpPr>
        <p:spPr>
          <a:xfrm>
            <a:off x="1463040" y="2761488"/>
            <a:ext cx="47548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25% low-SNR curriculum on Stage 2</a:t>
            </a:r>
          </a:p>
        </p:txBody>
      </p:sp>
      <p:sp>
        <p:nvSpPr>
          <p:cNvPr id="11" name="Rounded Rectangle 10"/>
          <p:cNvSpPr/>
          <p:nvPr/>
        </p:nvSpPr>
        <p:spPr>
          <a:xfrm>
            <a:off x="7525512" y="2743200"/>
            <a:ext cx="1078992" cy="237744"/>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12" name="TextBox 11"/>
          <p:cNvSpPr txBox="1"/>
          <p:nvPr/>
        </p:nvSpPr>
        <p:spPr>
          <a:xfrm>
            <a:off x="411480" y="3127248"/>
            <a:ext cx="1005840" cy="274320"/>
          </a:xfrm>
          <a:prstGeom prst="rect">
            <a:avLst/>
          </a:prstGeom>
          <a:noFill/>
        </p:spPr>
        <p:txBody>
          <a:bodyPr wrap="square" lIns="0" rIns="0" tIns="0" bIns="0">
            <a:spAutoFit/>
          </a:bodyPr>
          <a:lstStyle/>
          <a:p>
            <a:pPr algn="l">
              <a:spcAft>
                <a:spcPts val="0"/>
              </a:spcAft>
            </a:pPr>
            <a:r>
              <a:rPr sz="1100" b="1" i="0">
                <a:solidFill>
                  <a:srgbClr val="657782"/>
                </a:solidFill>
                <a:latin typeface="Segoe UI"/>
              </a:rPr>
              <a:t>Diagnostic</a:t>
            </a:r>
          </a:p>
        </p:txBody>
      </p:sp>
      <p:sp>
        <p:nvSpPr>
          <p:cNvPr id="13" name="TextBox 12"/>
          <p:cNvSpPr txBox="1"/>
          <p:nvPr/>
        </p:nvSpPr>
        <p:spPr>
          <a:xfrm>
            <a:off x="1463040" y="3127248"/>
            <a:ext cx="47548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Oracle decomposition — where is the ceiling?</a:t>
            </a:r>
          </a:p>
        </p:txBody>
      </p:sp>
      <p:sp>
        <p:nvSpPr>
          <p:cNvPr id="14" name="Rounded Rectangle 13"/>
          <p:cNvSpPr/>
          <p:nvPr/>
        </p:nvSpPr>
        <p:spPr>
          <a:xfrm>
            <a:off x="7525512" y="3108960"/>
            <a:ext cx="1078992" cy="237744"/>
          </a:xfrm>
          <a:prstGeom prst="round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KEY RESULT</a:t>
            </a:r>
          </a:p>
        </p:txBody>
      </p:sp>
      <p:sp>
        <p:nvSpPr>
          <p:cNvPr id="15" name="TextBox 14"/>
          <p:cNvSpPr txBox="1"/>
          <p:nvPr/>
        </p:nvSpPr>
        <p:spPr>
          <a:xfrm>
            <a:off x="411480" y="3493008"/>
            <a:ext cx="1005840" cy="274320"/>
          </a:xfrm>
          <a:prstGeom prst="rect">
            <a:avLst/>
          </a:prstGeom>
          <a:noFill/>
        </p:spPr>
        <p:txBody>
          <a:bodyPr wrap="square" lIns="0" rIns="0" tIns="0" bIns="0">
            <a:spAutoFit/>
          </a:bodyPr>
          <a:lstStyle/>
          <a:p>
            <a:pPr algn="l">
              <a:spcAft>
                <a:spcPts val="0"/>
              </a:spcAft>
            </a:pPr>
            <a:r>
              <a:rPr sz="1100" b="1" i="0">
                <a:solidFill>
                  <a:srgbClr val="657782"/>
                </a:solidFill>
                <a:latin typeface="Segoe UI"/>
              </a:rPr>
              <a:t>Attempt 3</a:t>
            </a:r>
          </a:p>
        </p:txBody>
      </p:sp>
      <p:sp>
        <p:nvSpPr>
          <p:cNvPr id="16" name="TextBox 15"/>
          <p:cNvSpPr txBox="1"/>
          <p:nvPr/>
        </p:nvSpPr>
        <p:spPr>
          <a:xfrm>
            <a:off x="1463040" y="3493008"/>
            <a:ext cx="47548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Stage 1 A/B: multiplicative vs log-gain</a:t>
            </a:r>
          </a:p>
        </p:txBody>
      </p:sp>
      <p:sp>
        <p:nvSpPr>
          <p:cNvPr id="17" name="Rounded Rectangle 16"/>
          <p:cNvSpPr/>
          <p:nvPr/>
        </p:nvSpPr>
        <p:spPr>
          <a:xfrm>
            <a:off x="7525512" y="3474720"/>
            <a:ext cx="1078992" cy="237744"/>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18" name="TextBox 17"/>
          <p:cNvSpPr txBox="1"/>
          <p:nvPr/>
        </p:nvSpPr>
        <p:spPr>
          <a:xfrm>
            <a:off x="411480" y="3858768"/>
            <a:ext cx="1005840" cy="274320"/>
          </a:xfrm>
          <a:prstGeom prst="rect">
            <a:avLst/>
          </a:prstGeom>
          <a:noFill/>
        </p:spPr>
        <p:txBody>
          <a:bodyPr wrap="square" lIns="0" rIns="0" tIns="0" bIns="0">
            <a:spAutoFit/>
          </a:bodyPr>
          <a:lstStyle/>
          <a:p>
            <a:pPr algn="l">
              <a:spcAft>
                <a:spcPts val="0"/>
              </a:spcAft>
            </a:pPr>
            <a:r>
              <a:rPr sz="1100" b="1" i="0">
                <a:solidFill>
                  <a:srgbClr val="657782"/>
                </a:solidFill>
                <a:latin typeface="Segoe UI"/>
              </a:rPr>
              <a:t>Attempt 4</a:t>
            </a:r>
          </a:p>
        </p:txBody>
      </p:sp>
      <p:sp>
        <p:nvSpPr>
          <p:cNvPr id="19" name="TextBox 18"/>
          <p:cNvSpPr txBox="1"/>
          <p:nvPr/>
        </p:nvSpPr>
        <p:spPr>
          <a:xfrm>
            <a:off x="1463040" y="3858768"/>
            <a:ext cx="47548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Stage 2 adaptation to the new Stage 1</a:t>
            </a:r>
          </a:p>
        </p:txBody>
      </p:sp>
      <p:sp>
        <p:nvSpPr>
          <p:cNvPr id="20" name="Rounded Rectangle 19"/>
          <p:cNvSpPr/>
          <p:nvPr/>
        </p:nvSpPr>
        <p:spPr>
          <a:xfrm>
            <a:off x="7525512" y="3840480"/>
            <a:ext cx="1078992" cy="237744"/>
          </a:xfrm>
          <a:prstGeom prst="roundRect">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21" name="TextBox 20"/>
          <p:cNvSpPr txBox="1"/>
          <p:nvPr/>
        </p:nvSpPr>
        <p:spPr>
          <a:xfrm>
            <a:off x="411480" y="4224528"/>
            <a:ext cx="1005840" cy="274320"/>
          </a:xfrm>
          <a:prstGeom prst="rect">
            <a:avLst/>
          </a:prstGeom>
          <a:noFill/>
        </p:spPr>
        <p:txBody>
          <a:bodyPr wrap="square" lIns="0" rIns="0" tIns="0" bIns="0">
            <a:spAutoFit/>
          </a:bodyPr>
          <a:lstStyle/>
          <a:p>
            <a:pPr algn="l">
              <a:spcAft>
                <a:spcPts val="0"/>
              </a:spcAft>
            </a:pPr>
            <a:r>
              <a:rPr sz="1100" b="1" i="0">
                <a:solidFill>
                  <a:srgbClr val="657782"/>
                </a:solidFill>
                <a:latin typeface="Segoe UI"/>
              </a:rPr>
              <a:t>Attempt 5</a:t>
            </a:r>
          </a:p>
        </p:txBody>
      </p:sp>
      <p:sp>
        <p:nvSpPr>
          <p:cNvPr id="22" name="TextBox 21"/>
          <p:cNvSpPr txBox="1"/>
          <p:nvPr/>
        </p:nvSpPr>
        <p:spPr>
          <a:xfrm>
            <a:off x="1463040" y="4224528"/>
            <a:ext cx="47548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Guidance re-tune, cfg 1.5 → 2.5</a:t>
            </a:r>
          </a:p>
        </p:txBody>
      </p:sp>
      <p:sp>
        <p:nvSpPr>
          <p:cNvPr id="23" name="Rounded Rectangle 22"/>
          <p:cNvSpPr/>
          <p:nvPr/>
        </p:nvSpPr>
        <p:spPr>
          <a:xfrm>
            <a:off x="7525512" y="4206240"/>
            <a:ext cx="1078992" cy="237744"/>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ADOPTED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Why the first two attempts failed</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Teaching Stage 2 the new regime cost more than it bought</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400"/>
              </a:spcAft>
            </a:pPr>
            <a:r>
              <a:rPr sz="1300" b="1" i="0">
                <a:solidFill>
                  <a:srgbClr val="121A20"/>
                </a:solidFill>
                <a:latin typeface="Segoe UI"/>
              </a:rPr>
              <a:t>50% low-SNR curriculum</a:t>
            </a:r>
          </a:p>
          <a:p>
            <a:pPr algn="l">
              <a:spcAft>
                <a:spcPts val="900"/>
              </a:spcAft>
            </a:pPr>
            <a:r>
              <a:rPr sz="1250" b="0" i="0">
                <a:solidFill>
                  <a:srgbClr val="121A20"/>
                </a:solidFill>
                <a:latin typeface="Segoe UI"/>
              </a:rPr>
              <a:t>Target won decisively: low-SNR accuracy 61.3 → 71.3%, SI-SDR −5.94 → +4.11 dB. But corpus-wide accuracy fell 86.5 → 82.0% and the in-domain catastrophic rate rose 3.7 → 15.5% — a 4.2× increase.</a:t>
            </a:r>
          </a:p>
          <a:p>
            <a:pPr algn="l">
              <a:spcAft>
                <a:spcPts val="400"/>
              </a:spcAft>
            </a:pPr>
            <a:r>
              <a:rPr sz="1300" b="1" i="0">
                <a:solidFill>
                  <a:srgbClr val="121A20"/>
                </a:solidFill>
                <a:latin typeface="Segoe UI"/>
              </a:rPr>
              <a:t>25% low-SNR curriculum</a:t>
            </a:r>
          </a:p>
          <a:p>
            <a:pPr algn="l">
              <a:spcAft>
                <a:spcPts val="900"/>
              </a:spcAft>
            </a:pPr>
            <a:r>
              <a:rPr sz="1250" b="0" i="0">
                <a:solidFill>
                  <a:srgbClr val="121A20"/>
                </a:solidFill>
                <a:latin typeface="Segoe UI"/>
              </a:rPr>
              <a:t>Run specifically to test whether a gentler mix found a sweet spot. It kept 38–76% of the gain and 62–73% of the cost — roughly proportional, with no knee in the curve.</a:t>
            </a:r>
          </a:p>
        </p:txBody>
      </p:sp>
      <p:sp>
        <p:nvSpPr>
          <p:cNvPr id="6" name="Rounded Rectangle 5"/>
          <p:cNvSpPr/>
          <p:nvPr/>
        </p:nvSpPr>
        <p:spPr>
          <a:xfrm>
            <a:off x="411480" y="3310128"/>
            <a:ext cx="8321040" cy="96012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419856"/>
            <a:ext cx="8046720" cy="822960"/>
          </a:xfrm>
          <a:prstGeom prst="rect">
            <a:avLst/>
          </a:prstGeom>
          <a:noFill/>
        </p:spPr>
        <p:txBody>
          <a:bodyPr wrap="square" lIns="0" rIns="0" tIns="0" bIns="0">
            <a:spAutoFit/>
          </a:bodyPr>
          <a:lstStyle/>
          <a:p>
            <a:pPr algn="l">
              <a:spcAft>
                <a:spcPts val="400"/>
              </a:spcAft>
            </a:pPr>
            <a:r>
              <a:rPr sz="1200" b="1" i="0">
                <a:solidFill>
                  <a:srgbClr val="0E6F6B"/>
                </a:solidFill>
                <a:latin typeface="Segoe UI"/>
              </a:rPr>
              <a:t>What the pair established</a:t>
            </a:r>
          </a:p>
          <a:p>
            <a:pPr algn="l">
              <a:spcAft>
                <a:spcPts val="0"/>
              </a:spcAft>
            </a:pPr>
            <a:r>
              <a:rPr sz="1200" b="0" i="0">
                <a:solidFill>
                  <a:srgbClr val="121A20"/>
                </a:solidFill>
                <a:latin typeface="Segoe UI"/>
              </a:rPr>
              <a:t>Two points on one curve showed the trade is INHERENT at Stage 2, not a tuning failure. We stopped curriculum-weight tuning there rather than running a third mix — and went looking for where the constraint actually lived.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The oracle experiment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Asking where the ceiling is, without training anything</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700"/>
              </a:spcAft>
            </a:pPr>
            <a:r>
              <a:rPr sz="1250" b="0" i="0">
                <a:solidFill>
                  <a:srgbClr val="121A20"/>
                </a:solidFill>
                <a:latin typeface="Segoe UI"/>
              </a:rPr>
              <a:t>We replaced Stage 1 with two oracles built from the clean target — evaluation only, no training, no promotion possible. Each answers a different question:</a:t>
            </a:r>
          </a:p>
          <a:p>
            <a:pPr algn="l">
              <a:spcAft>
                <a:spcPts val="600"/>
              </a:spcAft>
            </a:pPr>
            <a:r>
              <a:rPr sz="1250" b="0" i="0">
                <a:solidFill>
                  <a:srgbClr val="121A20"/>
                </a:solidFill>
                <a:latin typeface="Segoe UI"/>
              </a:rPr>
              <a:t>Oracle A — the best mask that exists WITHIN the paper's formulation (per-bin least squares). If this barely beats the trained network, the network is already near its formulation's limit and retraining Stage 1 cannot help.</a:t>
            </a:r>
          </a:p>
          <a:p>
            <a:pPr algn="l">
              <a:spcAft>
                <a:spcPts val="0"/>
              </a:spcAft>
            </a:pPr>
            <a:r>
              <a:rPr sz="1250" b="0" i="0">
                <a:solidFill>
                  <a:srgbClr val="121A20"/>
                </a:solidFill>
                <a:latin typeface="Segoe UI"/>
              </a:rPr>
              <a:t>Oracle B — true energy deletion, a mask on linear power. This prices what CHANGING the formulation could buy.</a:t>
            </a:r>
          </a:p>
        </p:txBody>
      </p:sp>
      <p:pic>
        <p:nvPicPr>
          <p:cNvPr id="6" name="Picture 5" descr="02_oracle_decomposition.png"/>
          <p:cNvPicPr>
            <a:picLocks noChangeAspect="1"/>
          </p:cNvPicPr>
          <p:nvPr/>
        </p:nvPicPr>
        <p:blipFill>
          <a:blip r:embed="rId2"/>
          <a:stretch>
            <a:fillRect/>
          </a:stretch>
        </p:blipFill>
        <p:spPr>
          <a:xfrm>
            <a:off x="1883986" y="2761488"/>
            <a:ext cx="5376027" cy="21488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What the oracle told us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Both gaps are real, and both open at low SNR</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500"/>
              </a:spcAft>
            </a:pPr>
            <a:r>
              <a:rPr sz="1300" b="1" i="0">
                <a:solidFill>
                  <a:srgbClr val="657782"/>
                </a:solidFill>
                <a:latin typeface="Segoe UI"/>
              </a:rPr>
              <a:t>At low SNR:</a:t>
            </a:r>
          </a:p>
          <a:p>
            <a:pPr algn="l">
              <a:spcAft>
                <a:spcPts val="400"/>
              </a:spcAft>
            </a:pPr>
            <a:r>
              <a:rPr sz="1250" b="0" i="0">
                <a:solidFill>
                  <a:srgbClr val="121A20"/>
                </a:solidFill>
                <a:latin typeface="Segoe UI"/>
              </a:rPr>
              <a:t>    Learnable gap (network → best mask):  +11.7 pp  —  the network falls short of its own formulation</a:t>
            </a:r>
          </a:p>
          <a:p>
            <a:pPr algn="l">
              <a:spcAft>
                <a:spcPts val="900"/>
              </a:spcAft>
            </a:pPr>
            <a:r>
              <a:rPr sz="1250" b="0" i="0">
                <a:solidFill>
                  <a:srgbClr val="121A20"/>
                </a:solidFill>
                <a:latin typeface="Segoe UI"/>
              </a:rPr>
              <a:t>    Formulation gap (best mask → true deletion):  +16.9 pp  —  the formulation itself is the larger limit</a:t>
            </a:r>
          </a:p>
          <a:p>
            <a:pPr algn="l">
              <a:spcAft>
                <a:spcPts val="900"/>
              </a:spcAft>
            </a:pPr>
            <a:r>
              <a:rPr sz="1250" b="0" i="0">
                <a:solidFill>
                  <a:srgbClr val="121A20"/>
                </a:solidFill>
                <a:latin typeface="Segoe UI"/>
              </a:rPr>
              <a:t>At trained SNR both collapse to about a point — which is the first evidence that the system is near-saturated in the regime it was built for.</a:t>
            </a:r>
          </a:p>
        </p:txBody>
      </p:sp>
      <p:sp>
        <p:nvSpPr>
          <p:cNvPr id="6" name="Rounded Rectangle 5"/>
          <p:cNvSpPr/>
          <p:nvPr/>
        </p:nvSpPr>
        <p:spPr>
          <a:xfrm>
            <a:off x="411480" y="2880360"/>
            <a:ext cx="8321040" cy="137160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990088"/>
            <a:ext cx="8046720" cy="1188720"/>
          </a:xfrm>
          <a:prstGeom prst="rect">
            <a:avLst/>
          </a:prstGeom>
          <a:noFill/>
        </p:spPr>
        <p:txBody>
          <a:bodyPr wrap="square" lIns="0" rIns="0" tIns="0" bIns="0">
            <a:spAutoFit/>
          </a:bodyPr>
          <a:lstStyle/>
          <a:p>
            <a:pPr algn="l">
              <a:spcAft>
                <a:spcPts val="500"/>
              </a:spcAft>
            </a:pPr>
            <a:r>
              <a:rPr sz="1250" b="1" i="0">
                <a:solidFill>
                  <a:srgbClr val="0E6F6B"/>
                </a:solidFill>
                <a:latin typeface="Segoe UI"/>
              </a:rPr>
              <a:t>Why this mattered more than either number</a:t>
            </a:r>
          </a:p>
          <a:p>
            <a:pPr algn="l">
              <a:spcAft>
                <a:spcPts val="0"/>
              </a:spcAft>
            </a:pPr>
            <a:r>
              <a:rPr sz="1200" b="0" i="0">
                <a:solidFill>
                  <a:srgbClr val="121A20"/>
                </a:solidFill>
                <a:latin typeface="Segoe UI"/>
              </a:rPr>
              <a:t>It answered a question we had been arguing from intuition: is Stage 1 or Stage 2 the bottleneck? The answer was BOTH, in different proportions, and specifically at low SNR. That redirected the campaign from Stage 2 curricula — which had just failed twice — to Stage 1, where the next attempt succeeded.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The Stage 1 A/B</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Same curriculum, same seed, one variable</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700"/>
              </a:spcAft>
            </a:pPr>
            <a:r>
              <a:rPr sz="1250" b="0" i="0">
                <a:solidFill>
                  <a:srgbClr val="121A20"/>
                </a:solidFill>
                <a:latin typeface="Segoe UI"/>
              </a:rPr>
              <a:t>Two arms, identical in every respect except the mask formulation:</a:t>
            </a:r>
          </a:p>
          <a:p>
            <a:pPr algn="l">
              <a:spcAft>
                <a:spcPts val="300"/>
              </a:spcAft>
            </a:pPr>
            <a:r>
              <a:rPr sz="1250" b="1" i="0">
                <a:solidFill>
                  <a:srgbClr val="121A20"/>
                </a:solidFill>
                <a:latin typeface="Segoe UI"/>
              </a:rPr>
              <a:t>Multiplicative  —  the paper's Eq. 9, X × M</a:t>
            </a:r>
          </a:p>
          <a:p>
            <a:pPr algn="l">
              <a:spcAft>
                <a:spcPts val="800"/>
              </a:spcAft>
            </a:pPr>
            <a:r>
              <a:rPr sz="1250" b="1" i="0">
                <a:solidFill>
                  <a:srgbClr val="121A20"/>
                </a:solidFill>
                <a:latin typeface="Segoe UI"/>
              </a:rPr>
              <a:t>Log-gain  —  X + log(M), which makes true deletion achievable</a:t>
            </a:r>
          </a:p>
          <a:p>
            <a:pPr algn="l">
              <a:spcAft>
                <a:spcPts val="700"/>
              </a:spcAft>
            </a:pPr>
            <a:r>
              <a:rPr sz="1250" b="0" i="0">
                <a:solidFill>
                  <a:srgbClr val="121A20"/>
                </a:solidFill>
                <a:latin typeface="Segoe UI"/>
              </a:rPr>
              <a:t>Log-gain produced the most accurate Stage 1 ever measured in this project — mel MSE 2.296 against 5.939 for multiplicative, a 2.6× improvement.</a:t>
            </a:r>
          </a:p>
        </p:txBody>
      </p:sp>
      <p:sp>
        <p:nvSpPr>
          <p:cNvPr id="6" name="Rounded Rectangle 5"/>
          <p:cNvSpPr/>
          <p:nvPr/>
        </p:nvSpPr>
        <p:spPr>
          <a:xfrm>
            <a:off x="411480" y="2788920"/>
            <a:ext cx="8321040" cy="1417320"/>
          </a:xfrm>
          <a:prstGeom prst="roundRect">
            <a:avLst/>
          </a:prstGeom>
          <a:solidFill>
            <a:srgbClr val="F6E6E6"/>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898648"/>
            <a:ext cx="8046720" cy="1234440"/>
          </a:xfrm>
          <a:prstGeom prst="rect">
            <a:avLst/>
          </a:prstGeom>
          <a:noFill/>
        </p:spPr>
        <p:txBody>
          <a:bodyPr wrap="square" lIns="0" rIns="0" tIns="0" bIns="0">
            <a:spAutoFit/>
          </a:bodyPr>
          <a:lstStyle/>
          <a:p>
            <a:pPr algn="l">
              <a:spcAft>
                <a:spcPts val="500"/>
              </a:spcAft>
            </a:pPr>
            <a:r>
              <a:rPr sz="1250" b="1" i="0">
                <a:solidFill>
                  <a:srgbClr val="9E3535"/>
                </a:solidFill>
                <a:latin typeface="Segoe UI"/>
              </a:rPr>
              <a:t>And it failed anyway</a:t>
            </a:r>
          </a:p>
          <a:p>
            <a:pPr algn="l">
              <a:spcAft>
                <a:spcPts val="400"/>
              </a:spcAft>
            </a:pPr>
            <a:r>
              <a:rPr sz="1200" b="0" i="0">
                <a:solidFill>
                  <a:srgbClr val="121A20"/>
                </a:solidFill>
                <a:latin typeface="Segoe UI"/>
              </a:rPr>
              <a:t>The frozen Stage 2 destroyed it — worsening its input in 97.7–98.7% of samples. Stage 2 had been trained for 300k steps against multiplicative-mask output and had never seen a mask output BELOW the mixture. A better Stage 1 is worthless to a Stage 2 that was not trained against it.</a:t>
            </a:r>
          </a:p>
          <a:p>
            <a:pPr algn="l">
              <a:spcAft>
                <a:spcPts val="0"/>
              </a:spcAft>
            </a:pPr>
            <a:r>
              <a:rPr sz="1200" b="1" i="0">
                <a:solidFill>
                  <a:srgbClr val="2C6E49"/>
                </a:solidFill>
                <a:latin typeface="Segoe UI"/>
              </a:rPr>
              <a:t>The multiplicative arm was promoted: low-SNR +8.4 pp at zero corpus-wide cost.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Adapting Stage 2, and an honest override</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Where we knowingly broke our own rule</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800"/>
              </a:spcAft>
            </a:pPr>
            <a:r>
              <a:rPr sz="1250" b="0" i="0">
                <a:solidFill>
                  <a:srgbClr val="121A20"/>
                </a:solidFill>
                <a:latin typeface="Segoe UI"/>
              </a:rPr>
              <a:t>After promoting Stage 1, Stage 2 was SUBTRACTING at low SNR (−1.40 dB vs Stage 1) because its input distribution had moved underneath it. We re-adapted it.</a:t>
            </a:r>
          </a:p>
          <a:p>
            <a:pPr algn="l">
              <a:spcAft>
                <a:spcPts val="800"/>
              </a:spcAft>
            </a:pPr>
            <a:r>
              <a:rPr sz="1250" b="1" i="0">
                <a:solidFill>
                  <a:srgbClr val="2C6E49"/>
                </a:solidFill>
                <a:latin typeface="Segoe UI"/>
              </a:rPr>
              <a:t>Target met decisively:  S2-vs-S1 −1.40 → +1.79 dB,  low-SNR accuracy 69.7 → 78.7%</a:t>
            </a:r>
          </a:p>
          <a:p>
            <a:pPr algn="l">
              <a:spcAft>
                <a:spcPts val="800"/>
              </a:spcAft>
            </a:pPr>
            <a:r>
              <a:rPr sz="1250" b="1" i="0">
                <a:solidFill>
                  <a:srgbClr val="9E3535"/>
                </a:solidFill>
                <a:latin typeface="Segoe UI"/>
              </a:rPr>
              <a:t>Two retention bars FAILED:  in-domain mel catastrophic 4.6 → 9.7% (bar ≤5%), Libri2Mix in-distribution 4.9 → 7.3% (bar ≤6%)</a:t>
            </a:r>
          </a:p>
        </p:txBody>
      </p:sp>
      <p:sp>
        <p:nvSpPr>
          <p:cNvPr id="6" name="Rounded Rectangle 5"/>
          <p:cNvSpPr/>
          <p:nvPr/>
        </p:nvSpPr>
        <p:spPr>
          <a:xfrm>
            <a:off x="411480" y="2926080"/>
            <a:ext cx="8321040" cy="137160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035808"/>
            <a:ext cx="8046720" cy="1188720"/>
          </a:xfrm>
          <a:prstGeom prst="rect">
            <a:avLst/>
          </a:prstGeom>
          <a:noFill/>
        </p:spPr>
        <p:txBody>
          <a:bodyPr wrap="square" lIns="0" rIns="0" tIns="0" bIns="0">
            <a:spAutoFit/>
          </a:bodyPr>
          <a:lstStyle/>
          <a:p>
            <a:pPr algn="l">
              <a:spcAft>
                <a:spcPts val="500"/>
              </a:spcAft>
            </a:pPr>
            <a:r>
              <a:rPr sz="1250" b="1" i="0">
                <a:solidFill>
                  <a:srgbClr val="B07818"/>
                </a:solidFill>
                <a:latin typeface="Segoe UI"/>
              </a:rPr>
              <a:t>We promoted it anyway, and documented why</a:t>
            </a:r>
          </a:p>
          <a:p>
            <a:pPr algn="l">
              <a:spcAft>
                <a:spcPts val="0"/>
              </a:spcAft>
            </a:pPr>
            <a:r>
              <a:rPr sz="1200" b="0" i="0">
                <a:solidFill>
                  <a:srgbClr val="121A20"/>
                </a:solidFill>
                <a:latin typeface="Segoe UI"/>
              </a:rPr>
              <a:t>Both failing bars were the mel proxy. The SI-SDR severity check contradicted them: severe audio regressions barely moved (2.1 → 2.7%), and the share of mel-“catastrophic” cases whose audio was actually fine ROSE to 64%. Moving a bar after seeing results is exactly what pre-registration exists to prevent — so it is reported as an override rather than presented as a clean pass.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The free win</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 change that cost no training at all</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900"/>
              </a:spcAft>
            </a:pPr>
            <a:r>
              <a:rPr sz="1300" b="0" i="0">
                <a:solidFill>
                  <a:srgbClr val="121A20"/>
                </a:solidFill>
                <a:latin typeface="Segoe UI"/>
              </a:rPr>
              <a:t>The guidance scale had been set to 1.5 and validated back when BOTH stages were different models. Nobody had re-checked it after two promotions.</a:t>
            </a:r>
          </a:p>
          <a:p>
            <a:pPr algn="l">
              <a:spcAft>
                <a:spcPts val="700"/>
              </a:spcAft>
            </a:pPr>
            <a:r>
              <a:rPr sz="1300" b="0" i="0">
                <a:solidFill>
                  <a:srgbClr val="121A20"/>
                </a:solidFill>
                <a:latin typeface="Segoe UI"/>
              </a:rPr>
              <a:t>A sweep found it mis-tuned for the current pipeline. Moving to cfg 2.5:</a:t>
            </a:r>
          </a:p>
          <a:p>
            <a:pPr>
              <a:spcAft>
                <a:spcPts val="400"/>
              </a:spcAft>
            </a:pPr>
            <a:r>
              <a:rPr sz="1250">
                <a:solidFill>
                  <a:srgbClr val="121A20"/>
                </a:solidFill>
                <a:latin typeface="Segoe UI"/>
              </a:rPr>
              <a:t>    2 / 3 / 4-speaker:  84.3 / 78.3 / 74.9  →  </a:t>
            </a:r>
            <a:r>
              <a:rPr sz="1250" b="1">
                <a:solidFill>
                  <a:srgbClr val="2C6E49"/>
                </a:solidFill>
                <a:latin typeface="Segoe UI"/>
              </a:rPr>
              <a:t>85.7 / 80.0 / 77.0</a:t>
            </a:r>
          </a:p>
          <a:p>
            <a:pPr>
              <a:spcAft>
                <a:spcPts val="400"/>
              </a:spcAft>
            </a:pPr>
            <a:r>
              <a:rPr sz="1250">
                <a:solidFill>
                  <a:srgbClr val="121A20"/>
                </a:solidFill>
                <a:latin typeface="Segoe UI"/>
              </a:rPr>
              <a:t>    Corpus-wide:  85.2%  →  </a:t>
            </a:r>
            <a:r>
              <a:rPr sz="1250" b="1">
                <a:solidFill>
                  <a:srgbClr val="2C6E49"/>
                </a:solidFill>
                <a:latin typeface="Segoe UI"/>
              </a:rPr>
              <a:t>86.2%</a:t>
            </a:r>
          </a:p>
          <a:p>
            <a:pPr>
              <a:spcAft>
                <a:spcPts val="400"/>
              </a:spcAft>
            </a:pPr>
            <a:r>
              <a:rPr sz="1250">
                <a:solidFill>
                  <a:srgbClr val="121A20"/>
                </a:solidFill>
                <a:latin typeface="Segoe UI"/>
              </a:rPr>
              <a:t>    Low-SNR:  78.7%  →  </a:t>
            </a:r>
            <a:r>
              <a:rPr sz="1250" b="1">
                <a:solidFill>
                  <a:srgbClr val="2C6E49"/>
                </a:solidFill>
                <a:latin typeface="Segoe UI"/>
              </a:rPr>
              <a:t>80.3%</a:t>
            </a:r>
          </a:p>
          <a:p>
            <a:pPr algn="l">
              <a:spcAft>
                <a:spcPts val="800"/>
              </a:spcAft>
            </a:pPr>
            <a:r>
              <a:rPr sz="1250" b="0" i="0">
                <a:solidFill>
                  <a:srgbClr val="121A20"/>
                </a:solidFill>
                <a:latin typeface="Segoe UI"/>
              </a:rPr>
              <a:t>Cost: −0.09 dB SI-SDR and +0.5 pp catastrophic. Accuracy plateaued at 2.5 while outliers began climbing at 3.0, so we stopped there rather than pushing further.</a:t>
            </a:r>
          </a:p>
          <a:p>
            <a:pPr algn="l">
              <a:spcAft>
                <a:spcPts val="0"/>
              </a:spcAft>
            </a:pPr>
            <a:r>
              <a:rPr sz="1250" b="0" i="1">
                <a:solidFill>
                  <a:srgbClr val="0E6F6B"/>
                </a:solidFill>
                <a:latin typeface="Segoe UI"/>
              </a:rPr>
              <a:t>Lesson: after changing components, re-validate the operating point. It had silently become wrong.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4 · End-to-end result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regime went from harmful to beneficial</a:t>
            </a:r>
          </a:p>
        </p:txBody>
      </p:sp>
      <p:pic>
        <p:nvPicPr>
          <p:cNvPr id="5" name="Picture 4" descr="05_lowsnr_swing.png"/>
          <p:cNvPicPr>
            <a:picLocks noChangeAspect="1"/>
          </p:cNvPicPr>
          <p:nvPr/>
        </p:nvPicPr>
        <p:blipFill>
          <a:blip r:embed="rId2"/>
          <a:stretch>
            <a:fillRect/>
          </a:stretch>
        </p:blipFill>
        <p:spPr>
          <a:xfrm>
            <a:off x="1240520" y="1097280"/>
            <a:ext cx="6662959" cy="1965960"/>
          </a:xfrm>
          <a:prstGeom prst="rect">
            <a:avLst/>
          </a:prstGeom>
        </p:spPr>
      </p:pic>
      <p:sp>
        <p:nvSpPr>
          <p:cNvPr id="6" name="TextBox 5"/>
          <p:cNvSpPr txBox="1"/>
          <p:nvPr/>
        </p:nvSpPr>
        <p:spPr>
          <a:xfrm>
            <a:off x="411480" y="3246120"/>
            <a:ext cx="8321040" cy="1645920"/>
          </a:xfrm>
          <a:prstGeom prst="rect">
            <a:avLst/>
          </a:prstGeom>
          <a:noFill/>
        </p:spPr>
        <p:txBody>
          <a:bodyPr wrap="square" lIns="0" rIns="0" tIns="0" bIns="0">
            <a:spAutoFit/>
          </a:bodyPr>
          <a:lstStyle/>
          <a:p>
            <a:pPr algn="l">
              <a:spcAft>
                <a:spcPts val="700"/>
              </a:spcAft>
            </a:pPr>
            <a:r>
              <a:rPr sz="1300" b="1" i="0">
                <a:solidFill>
                  <a:srgbClr val="2C6E49"/>
                </a:solidFill>
                <a:latin typeface="Segoe UI"/>
              </a:rPr>
              <a:t>Low-SNR accuracy 61.3 → 80.3%   ·   Libri2Mix aggregate −0.04 → +3.39 dB</a:t>
            </a:r>
          </a:p>
          <a:p>
            <a:pPr algn="l">
              <a:spcAft>
                <a:spcPts val="600"/>
              </a:spcAft>
            </a:pPr>
            <a:r>
              <a:rPr sz="1250" b="0" i="0">
                <a:solidFill>
                  <a:srgbClr val="121A20"/>
                </a:solidFill>
                <a:latin typeface="Segoe UI"/>
              </a:rPr>
              <a:t>The honest cost, measured against doing nothing: in-domain SI-SDR fell +1.90 → +1.75 dB and 2/3-speaker accuracy is 1.6 / 2.1 pp below its all-time peak. 4-speaker is at its best ever.</a:t>
            </a:r>
          </a:p>
          <a:p>
            <a:pPr algn="l">
              <a:spcAft>
                <a:spcPts val="0"/>
              </a:spcAft>
            </a:pPr>
            <a:r>
              <a:rPr sz="1200" b="0" i="0">
                <a:solidFill>
                  <a:srgbClr val="657782"/>
                </a:solidFill>
                <a:latin typeface="Segoe UI"/>
              </a:rPr>
              <a:t>We report both framings. If you only care about in-domain 2-speaker performance, this campaign was a small net loss; the case for it rests entirely on the low-SNR and cross-corpus regimes.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5 · A defect no metric could see</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Found by listening, not by measuring</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900"/>
              </a:spcAft>
            </a:pPr>
            <a:r>
              <a:rPr sz="1300" b="0" i="0">
                <a:solidFill>
                  <a:srgbClr val="121A20"/>
                </a:solidFill>
                <a:latin typeface="Segoe UI"/>
              </a:rPr>
              <a:t>After the low-SNR campaign every metric said the system had improved. A routine listening check said otherwise: the first half-second of some utterances was audibly damped.</a:t>
            </a:r>
          </a:p>
          <a:p>
            <a:pPr algn="l">
              <a:spcAft>
                <a:spcPts val="900"/>
              </a:spcAft>
            </a:pPr>
            <a:r>
              <a:rPr sz="1300" b="0" i="0">
                <a:solidFill>
                  <a:srgbClr val="121A20"/>
                </a:solidFill>
                <a:latin typeface="Segoe UI"/>
              </a:rPr>
              <a:t>Measured, it is not gradual damping but a GATE — the output sits on a flat ≈−60 dB floor and then switches on abruptly.</a:t>
            </a:r>
          </a:p>
          <a:p>
            <a:pPr algn="l">
              <a:spcAft>
                <a:spcPts val="500"/>
              </a:spcAft>
            </a:pPr>
            <a:r>
              <a:rPr sz="1250" b="1" i="0">
                <a:solidFill>
                  <a:srgbClr val="657782"/>
                </a:solidFill>
                <a:latin typeface="Segoe UI"/>
              </a:rPr>
              <a:t>Localizing it:</a:t>
            </a:r>
          </a:p>
          <a:p>
            <a:pPr>
              <a:spcAft>
                <a:spcPts val="300"/>
              </a:spcAft>
            </a:pPr>
            <a:r>
              <a:rPr sz="1250">
                <a:solidFill>
                  <a:srgbClr val="121A20"/>
                </a:solidFill>
                <a:latin typeface="Segoe UI"/>
              </a:rPr>
              <a:t>    First speech burst:  </a:t>
            </a:r>
            <a:r>
              <a:rPr sz="1250" b="1">
                <a:solidFill>
                  <a:srgbClr val="9E3535"/>
                </a:solidFill>
                <a:latin typeface="Segoe UI"/>
              </a:rPr>
              <a:t>−4.08 dB</a:t>
            </a:r>
          </a:p>
          <a:p>
            <a:pPr>
              <a:spcAft>
                <a:spcPts val="300"/>
              </a:spcAft>
            </a:pPr>
            <a:r>
              <a:rPr sz="1250">
                <a:solidFill>
                  <a:srgbClr val="121A20"/>
                </a:solidFill>
                <a:latin typeface="Segoe UI"/>
              </a:rPr>
              <a:t>    Interior onsets (after silence):  </a:t>
            </a:r>
            <a:r>
              <a:rPr sz="1250" b="1">
                <a:solidFill>
                  <a:srgbClr val="2C6E49"/>
                </a:solidFill>
                <a:latin typeface="Segoe UI"/>
              </a:rPr>
              <a:t>+0.29 dB</a:t>
            </a:r>
          </a:p>
          <a:p>
            <a:pPr>
              <a:spcAft>
                <a:spcPts val="300"/>
              </a:spcAft>
            </a:pPr>
            <a:r>
              <a:rPr sz="1250">
                <a:solidFill>
                  <a:srgbClr val="121A20"/>
                </a:solidFill>
                <a:latin typeface="Segoe UI"/>
              </a:rPr>
              <a:t>    Sustained speech:  </a:t>
            </a:r>
            <a:r>
              <a:rPr sz="1250" b="1">
                <a:solidFill>
                  <a:srgbClr val="2C6E49"/>
                </a:solidFill>
                <a:latin typeface="Segoe UI"/>
              </a:rPr>
              <a:t>+0.01 dB</a:t>
            </a:r>
          </a:p>
          <a:p>
            <a:pPr algn="l">
              <a:spcAft>
                <a:spcPts val="0"/>
              </a:spcAft>
            </a:pPr>
            <a:r>
              <a:rPr sz="1250" b="0" i="0">
                <a:solidFill>
                  <a:srgbClr val="121A20"/>
                </a:solidFill>
                <a:latin typeface="Segoe UI"/>
              </a:rPr>
              <a:t>Interior onsets are acoustically the same event and are reproduced perfectly — so this is a POSITION-0 effect, not an acoustic one. Frame 0 is the only frame with no left context for the DiT's rotary attention.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5 · Which change caused it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 2×2 ablation over the two promotions</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800"/>
              </a:spcAft>
            </a:pPr>
            <a:r>
              <a:rPr sz="1250" b="0" i="0">
                <a:solidFill>
                  <a:srgbClr val="121A20"/>
                </a:solidFill>
                <a:latin typeface="Segoe UI"/>
              </a:rPr>
              <a:t>Both pre-promotion checkpoints survived, so we could run every combination at the deployed operating point — with old/old as the method's own control.</a:t>
            </a:r>
          </a:p>
        </p:txBody>
      </p:sp>
      <p:sp>
        <p:nvSpPr>
          <p:cNvPr id="6" name="TextBox 5"/>
          <p:cNvSpPr txBox="1"/>
          <p:nvPr/>
        </p:nvSpPr>
        <p:spPr>
          <a:xfrm>
            <a:off x="411480" y="1828800"/>
            <a:ext cx="155448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Stage 1</a:t>
            </a:r>
          </a:p>
        </p:txBody>
      </p:sp>
      <p:sp>
        <p:nvSpPr>
          <p:cNvPr id="7" name="TextBox 6"/>
          <p:cNvSpPr txBox="1"/>
          <p:nvPr/>
        </p:nvSpPr>
        <p:spPr>
          <a:xfrm>
            <a:off x="1965960" y="1828800"/>
            <a:ext cx="155448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Stage 2</a:t>
            </a:r>
          </a:p>
        </p:txBody>
      </p:sp>
      <p:sp>
        <p:nvSpPr>
          <p:cNvPr id="8" name="TextBox 7"/>
          <p:cNvSpPr txBox="1"/>
          <p:nvPr/>
        </p:nvSpPr>
        <p:spPr>
          <a:xfrm>
            <a:off x="3520440" y="1828800"/>
            <a:ext cx="137160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Gated</a:t>
            </a:r>
          </a:p>
        </p:txBody>
      </p:sp>
      <p:sp>
        <p:nvSpPr>
          <p:cNvPr id="9" name="TextBox 8"/>
          <p:cNvSpPr txBox="1"/>
          <p:nvPr/>
        </p:nvSpPr>
        <p:spPr>
          <a:xfrm>
            <a:off x="4892040" y="1828800"/>
            <a:ext cx="182880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Median onset</a:t>
            </a:r>
          </a:p>
        </p:txBody>
      </p:sp>
      <p:sp>
        <p:nvSpPr>
          <p:cNvPr id="10" name="TextBox 9"/>
          <p:cNvSpPr txBox="1"/>
          <p:nvPr/>
        </p:nvSpPr>
        <p:spPr>
          <a:xfrm>
            <a:off x="6720840" y="1828800"/>
            <a:ext cx="173736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4-spk gated</a:t>
            </a:r>
          </a:p>
        </p:txBody>
      </p:sp>
      <p:sp>
        <p:nvSpPr>
          <p:cNvPr id="11" name="TextBox 10"/>
          <p:cNvSpPr txBox="1"/>
          <p:nvPr/>
        </p:nvSpPr>
        <p:spPr>
          <a:xfrm>
            <a:off x="411480" y="2121408"/>
            <a:ext cx="15544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old</a:t>
            </a:r>
          </a:p>
        </p:txBody>
      </p:sp>
      <p:sp>
        <p:nvSpPr>
          <p:cNvPr id="12" name="TextBox 11"/>
          <p:cNvSpPr txBox="1"/>
          <p:nvPr/>
        </p:nvSpPr>
        <p:spPr>
          <a:xfrm>
            <a:off x="1965960" y="2121408"/>
            <a:ext cx="15544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old</a:t>
            </a:r>
          </a:p>
        </p:txBody>
      </p:sp>
      <p:sp>
        <p:nvSpPr>
          <p:cNvPr id="13" name="TextBox 12"/>
          <p:cNvSpPr txBox="1"/>
          <p:nvPr/>
        </p:nvSpPr>
        <p:spPr>
          <a:xfrm>
            <a:off x="3520440" y="2121408"/>
            <a:ext cx="137160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1 / 24</a:t>
            </a:r>
          </a:p>
        </p:txBody>
      </p:sp>
      <p:sp>
        <p:nvSpPr>
          <p:cNvPr id="14" name="TextBox 13"/>
          <p:cNvSpPr txBox="1"/>
          <p:nvPr/>
        </p:nvSpPr>
        <p:spPr>
          <a:xfrm>
            <a:off x="4892040" y="2121408"/>
            <a:ext cx="182880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−1.00 dB</a:t>
            </a:r>
          </a:p>
        </p:txBody>
      </p:sp>
      <p:sp>
        <p:nvSpPr>
          <p:cNvPr id="15" name="TextBox 14"/>
          <p:cNvSpPr txBox="1"/>
          <p:nvPr/>
        </p:nvSpPr>
        <p:spPr>
          <a:xfrm>
            <a:off x="6720840" y="2121408"/>
            <a:ext cx="173736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0 / 8</a:t>
            </a:r>
          </a:p>
        </p:txBody>
      </p:sp>
      <p:sp>
        <p:nvSpPr>
          <p:cNvPr id="16" name="TextBox 15"/>
          <p:cNvSpPr txBox="1"/>
          <p:nvPr/>
        </p:nvSpPr>
        <p:spPr>
          <a:xfrm>
            <a:off x="411480" y="2423160"/>
            <a:ext cx="15544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NEW</a:t>
            </a:r>
          </a:p>
        </p:txBody>
      </p:sp>
      <p:sp>
        <p:nvSpPr>
          <p:cNvPr id="17" name="TextBox 16"/>
          <p:cNvSpPr txBox="1"/>
          <p:nvPr/>
        </p:nvSpPr>
        <p:spPr>
          <a:xfrm>
            <a:off x="1965960" y="2423160"/>
            <a:ext cx="15544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old</a:t>
            </a:r>
          </a:p>
        </p:txBody>
      </p:sp>
      <p:sp>
        <p:nvSpPr>
          <p:cNvPr id="18" name="TextBox 17"/>
          <p:cNvSpPr txBox="1"/>
          <p:nvPr/>
        </p:nvSpPr>
        <p:spPr>
          <a:xfrm>
            <a:off x="3520440" y="2423160"/>
            <a:ext cx="137160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1 / 24</a:t>
            </a:r>
          </a:p>
        </p:txBody>
      </p:sp>
      <p:sp>
        <p:nvSpPr>
          <p:cNvPr id="19" name="TextBox 18"/>
          <p:cNvSpPr txBox="1"/>
          <p:nvPr/>
        </p:nvSpPr>
        <p:spPr>
          <a:xfrm>
            <a:off x="4892040" y="2423160"/>
            <a:ext cx="182880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−2.01 dB</a:t>
            </a:r>
          </a:p>
        </p:txBody>
      </p:sp>
      <p:sp>
        <p:nvSpPr>
          <p:cNvPr id="20" name="TextBox 19"/>
          <p:cNvSpPr txBox="1"/>
          <p:nvPr/>
        </p:nvSpPr>
        <p:spPr>
          <a:xfrm>
            <a:off x="6720840" y="2423160"/>
            <a:ext cx="173736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0 / 8</a:t>
            </a:r>
          </a:p>
        </p:txBody>
      </p:sp>
      <p:sp>
        <p:nvSpPr>
          <p:cNvPr id="21" name="TextBox 20"/>
          <p:cNvSpPr txBox="1"/>
          <p:nvPr/>
        </p:nvSpPr>
        <p:spPr>
          <a:xfrm>
            <a:off x="411480" y="2724912"/>
            <a:ext cx="15544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old</a:t>
            </a:r>
          </a:p>
        </p:txBody>
      </p:sp>
      <p:sp>
        <p:nvSpPr>
          <p:cNvPr id="22" name="TextBox 21"/>
          <p:cNvSpPr txBox="1"/>
          <p:nvPr/>
        </p:nvSpPr>
        <p:spPr>
          <a:xfrm>
            <a:off x="1965960" y="2724912"/>
            <a:ext cx="155448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NEW</a:t>
            </a:r>
          </a:p>
        </p:txBody>
      </p:sp>
      <p:sp>
        <p:nvSpPr>
          <p:cNvPr id="23" name="TextBox 22"/>
          <p:cNvSpPr txBox="1"/>
          <p:nvPr/>
        </p:nvSpPr>
        <p:spPr>
          <a:xfrm>
            <a:off x="3520440" y="2724912"/>
            <a:ext cx="137160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2 / 24</a:t>
            </a:r>
          </a:p>
        </p:txBody>
      </p:sp>
      <p:sp>
        <p:nvSpPr>
          <p:cNvPr id="24" name="TextBox 23"/>
          <p:cNvSpPr txBox="1"/>
          <p:nvPr/>
        </p:nvSpPr>
        <p:spPr>
          <a:xfrm>
            <a:off x="4892040" y="2724912"/>
            <a:ext cx="182880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−1.95 dB</a:t>
            </a:r>
          </a:p>
        </p:txBody>
      </p:sp>
      <p:sp>
        <p:nvSpPr>
          <p:cNvPr id="25" name="TextBox 24"/>
          <p:cNvSpPr txBox="1"/>
          <p:nvPr/>
        </p:nvSpPr>
        <p:spPr>
          <a:xfrm>
            <a:off x="6720840" y="2724912"/>
            <a:ext cx="1737360" cy="274320"/>
          </a:xfrm>
          <a:prstGeom prst="rect">
            <a:avLst/>
          </a:prstGeom>
          <a:noFill/>
        </p:spPr>
        <p:txBody>
          <a:bodyPr wrap="square" lIns="0" rIns="0" tIns="0" bIns="0">
            <a:spAutoFit/>
          </a:bodyPr>
          <a:lstStyle/>
          <a:p>
            <a:pPr algn="l">
              <a:spcAft>
                <a:spcPts val="0"/>
              </a:spcAft>
            </a:pPr>
            <a:r>
              <a:rPr sz="1200" b="0" i="0">
                <a:solidFill>
                  <a:srgbClr val="121A20"/>
                </a:solidFill>
                <a:latin typeface="Segoe UI"/>
              </a:rPr>
              <a:t>0 / 8</a:t>
            </a:r>
          </a:p>
        </p:txBody>
      </p:sp>
      <p:sp>
        <p:nvSpPr>
          <p:cNvPr id="26" name="TextBox 25"/>
          <p:cNvSpPr txBox="1"/>
          <p:nvPr/>
        </p:nvSpPr>
        <p:spPr>
          <a:xfrm>
            <a:off x="411480" y="3026664"/>
            <a:ext cx="1554480" cy="274320"/>
          </a:xfrm>
          <a:prstGeom prst="rect">
            <a:avLst/>
          </a:prstGeom>
          <a:noFill/>
        </p:spPr>
        <p:txBody>
          <a:bodyPr wrap="square" lIns="0" rIns="0" tIns="0" bIns="0">
            <a:spAutoFit/>
          </a:bodyPr>
          <a:lstStyle/>
          <a:p>
            <a:pPr algn="l">
              <a:spcAft>
                <a:spcPts val="0"/>
              </a:spcAft>
            </a:pPr>
            <a:r>
              <a:rPr sz="1200" b="1" i="0">
                <a:solidFill>
                  <a:srgbClr val="9E3535"/>
                </a:solidFill>
                <a:latin typeface="Segoe UI"/>
              </a:rPr>
              <a:t>NEW</a:t>
            </a:r>
          </a:p>
        </p:txBody>
      </p:sp>
      <p:sp>
        <p:nvSpPr>
          <p:cNvPr id="27" name="TextBox 26"/>
          <p:cNvSpPr txBox="1"/>
          <p:nvPr/>
        </p:nvSpPr>
        <p:spPr>
          <a:xfrm>
            <a:off x="1965960" y="3026664"/>
            <a:ext cx="1554480" cy="274320"/>
          </a:xfrm>
          <a:prstGeom prst="rect">
            <a:avLst/>
          </a:prstGeom>
          <a:noFill/>
        </p:spPr>
        <p:txBody>
          <a:bodyPr wrap="square" lIns="0" rIns="0" tIns="0" bIns="0">
            <a:spAutoFit/>
          </a:bodyPr>
          <a:lstStyle/>
          <a:p>
            <a:pPr algn="l">
              <a:spcAft>
                <a:spcPts val="0"/>
              </a:spcAft>
            </a:pPr>
            <a:r>
              <a:rPr sz="1200" b="1" i="0">
                <a:solidFill>
                  <a:srgbClr val="9E3535"/>
                </a:solidFill>
                <a:latin typeface="Segoe UI"/>
              </a:rPr>
              <a:t>NEW</a:t>
            </a:r>
          </a:p>
        </p:txBody>
      </p:sp>
      <p:sp>
        <p:nvSpPr>
          <p:cNvPr id="28" name="TextBox 27"/>
          <p:cNvSpPr txBox="1"/>
          <p:nvPr/>
        </p:nvSpPr>
        <p:spPr>
          <a:xfrm>
            <a:off x="3520440" y="3026664"/>
            <a:ext cx="1371600" cy="274320"/>
          </a:xfrm>
          <a:prstGeom prst="rect">
            <a:avLst/>
          </a:prstGeom>
          <a:noFill/>
        </p:spPr>
        <p:txBody>
          <a:bodyPr wrap="square" lIns="0" rIns="0" tIns="0" bIns="0">
            <a:spAutoFit/>
          </a:bodyPr>
          <a:lstStyle/>
          <a:p>
            <a:pPr algn="l">
              <a:spcAft>
                <a:spcPts val="0"/>
              </a:spcAft>
            </a:pPr>
            <a:r>
              <a:rPr sz="1200" b="1" i="0">
                <a:solidFill>
                  <a:srgbClr val="9E3535"/>
                </a:solidFill>
                <a:latin typeface="Segoe UI"/>
              </a:rPr>
              <a:t>7 / 24</a:t>
            </a:r>
          </a:p>
        </p:txBody>
      </p:sp>
      <p:sp>
        <p:nvSpPr>
          <p:cNvPr id="29" name="TextBox 28"/>
          <p:cNvSpPr txBox="1"/>
          <p:nvPr/>
        </p:nvSpPr>
        <p:spPr>
          <a:xfrm>
            <a:off x="4892040" y="3026664"/>
            <a:ext cx="1828800" cy="274320"/>
          </a:xfrm>
          <a:prstGeom prst="rect">
            <a:avLst/>
          </a:prstGeom>
          <a:noFill/>
        </p:spPr>
        <p:txBody>
          <a:bodyPr wrap="square" lIns="0" rIns="0" tIns="0" bIns="0">
            <a:spAutoFit/>
          </a:bodyPr>
          <a:lstStyle/>
          <a:p>
            <a:pPr algn="l">
              <a:spcAft>
                <a:spcPts val="0"/>
              </a:spcAft>
            </a:pPr>
            <a:r>
              <a:rPr sz="1200" b="1" i="0">
                <a:solidFill>
                  <a:srgbClr val="9E3535"/>
                </a:solidFill>
                <a:latin typeface="Segoe UI"/>
              </a:rPr>
              <a:t>−4.67 dB</a:t>
            </a:r>
          </a:p>
        </p:txBody>
      </p:sp>
      <p:sp>
        <p:nvSpPr>
          <p:cNvPr id="30" name="TextBox 29"/>
          <p:cNvSpPr txBox="1"/>
          <p:nvPr/>
        </p:nvSpPr>
        <p:spPr>
          <a:xfrm>
            <a:off x="6720840" y="3026664"/>
            <a:ext cx="1737360" cy="274320"/>
          </a:xfrm>
          <a:prstGeom prst="rect">
            <a:avLst/>
          </a:prstGeom>
          <a:noFill/>
        </p:spPr>
        <p:txBody>
          <a:bodyPr wrap="square" lIns="0" rIns="0" tIns="0" bIns="0">
            <a:spAutoFit/>
          </a:bodyPr>
          <a:lstStyle/>
          <a:p>
            <a:pPr algn="l">
              <a:spcAft>
                <a:spcPts val="0"/>
              </a:spcAft>
            </a:pPr>
            <a:r>
              <a:rPr sz="1200" b="1" i="0">
                <a:solidFill>
                  <a:srgbClr val="9E3535"/>
                </a:solidFill>
                <a:latin typeface="Segoe UI"/>
              </a:rPr>
              <a:t>3 / 8</a:t>
            </a:r>
          </a:p>
        </p:txBody>
      </p:sp>
      <p:sp>
        <p:nvSpPr>
          <p:cNvPr id="31" name="TextBox 30"/>
          <p:cNvSpPr txBox="1"/>
          <p:nvPr/>
        </p:nvSpPr>
        <p:spPr>
          <a:xfrm>
            <a:off x="411480" y="3438144"/>
            <a:ext cx="8321040" cy="1188720"/>
          </a:xfrm>
          <a:prstGeom prst="rect">
            <a:avLst/>
          </a:prstGeom>
          <a:noFill/>
        </p:spPr>
        <p:txBody>
          <a:bodyPr wrap="square" lIns="0" rIns="0" tIns="0" bIns="0">
            <a:spAutoFit/>
          </a:bodyPr>
          <a:lstStyle/>
          <a:p>
            <a:pPr algn="l">
              <a:spcAft>
                <a:spcPts val="500"/>
              </a:spcAft>
            </a:pPr>
            <a:r>
              <a:rPr sz="1250" b="1" i="0">
                <a:solidFill>
                  <a:srgbClr val="121A20"/>
                </a:solidFill>
                <a:latin typeface="Segoe UI"/>
              </a:rPr>
              <a:t>Neither promotion causes it alone — each is indistinguishable from the control. Only the PAIR gates, and superadditively: summing the individual effects predicts ≈2/24, we measured 7/24.</a:t>
            </a:r>
          </a:p>
          <a:p>
            <a:pPr algn="l">
              <a:spcAft>
                <a:spcPts val="0"/>
              </a:spcAft>
            </a:pPr>
            <a:r>
              <a:rPr sz="1200" b="0" i="0">
                <a:solidFill>
                  <a:srgbClr val="657782"/>
                </a:solidFill>
                <a:latin typeface="Segoe UI"/>
              </a:rPr>
              <a:t>This removes the cheapest remedy. There is no single promotion to revert, because neither is individually at fault — the defect lives in the coupling between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Campaign 5 · Two attempts, both failed</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And they failed in the same place</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900"/>
              </a:spcAft>
            </a:pPr>
            <a:r>
              <a:rPr sz="1250" b="0" i="0">
                <a:solidFill>
                  <a:srgbClr val="121A20"/>
                </a:solidFill>
                <a:latin typeface="Segoe UI"/>
              </a:rPr>
              <a:t>The bar was fixed in advance at ≤1/24 gated — the pre-campaign level — on the grounds that a defect the campaign introduced should be absent after a fix.</a:t>
            </a:r>
          </a:p>
          <a:p>
            <a:pPr algn="l">
              <a:spcAft>
                <a:spcPts val="300"/>
              </a:spcAft>
            </a:pPr>
            <a:r>
              <a:rPr sz="1250" b="1" i="0">
                <a:solidFill>
                  <a:srgbClr val="121A20"/>
                </a:solidFill>
                <a:latin typeface="Segoe UI"/>
              </a:rPr>
              <a:t>Attempt 1 — targeted fine-tune</a:t>
            </a:r>
          </a:p>
          <a:p>
            <a:pPr algn="l">
              <a:spcAft>
                <a:spcPts val="800"/>
              </a:spcAft>
            </a:pPr>
            <a:r>
              <a:rPr sz="1200" b="0" i="0">
                <a:solidFill>
                  <a:srgbClr val="657782"/>
                </a:solidFill>
                <a:latin typeface="Segoe UI"/>
              </a:rPr>
              <a:t>    Fine-tuned Stage 2 against the failing condition.   Result: 7/24 → 4/24  — and 4-speaker did not move at all.</a:t>
            </a:r>
          </a:p>
          <a:p>
            <a:pPr algn="l">
              <a:spcAft>
                <a:spcPts val="300"/>
              </a:spcAft>
            </a:pPr>
            <a:r>
              <a:rPr sz="1250" b="1" i="0">
                <a:solidFill>
                  <a:srgbClr val="121A20"/>
                </a:solidFill>
                <a:latin typeface="Segoe UI"/>
              </a:rPr>
              <a:t>Attempt 2 — inference-side repair</a:t>
            </a:r>
          </a:p>
          <a:p>
            <a:pPr algn="l">
              <a:spcAft>
                <a:spcPts val="800"/>
              </a:spcAft>
            </a:pPr>
            <a:r>
              <a:rPr sz="1200" b="0" i="0">
                <a:solidFill>
                  <a:srgbClr val="657782"/>
                </a:solidFill>
                <a:latin typeface="Segoe UI"/>
              </a:rPr>
              <a:t>    Spliced a silent lead-in so the weak region falls in discarded frames. No retraining.   Result: 7/24 → 6/24  — and 4-speaker did not move at all.</a:t>
            </a:r>
          </a:p>
        </p:txBody>
      </p:sp>
      <p:sp>
        <p:nvSpPr>
          <p:cNvPr id="6" name="Rounded Rectangle 5"/>
          <p:cNvSpPr/>
          <p:nvPr/>
        </p:nvSpPr>
        <p:spPr>
          <a:xfrm>
            <a:off x="411480" y="3154680"/>
            <a:ext cx="8321040" cy="118872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264408"/>
            <a:ext cx="8046720" cy="1005840"/>
          </a:xfrm>
          <a:prstGeom prst="rect">
            <a:avLst/>
          </a:prstGeom>
          <a:noFill/>
        </p:spPr>
        <p:txBody>
          <a:bodyPr wrap="square" lIns="0" rIns="0" tIns="0" bIns="0">
            <a:spAutoFit/>
          </a:bodyPr>
          <a:lstStyle/>
          <a:p>
            <a:pPr algn="l">
              <a:spcAft>
                <a:spcPts val="500"/>
              </a:spcAft>
            </a:pPr>
            <a:r>
              <a:rPr sz="1250" b="1" i="0">
                <a:solidFill>
                  <a:srgbClr val="0E6F6B"/>
                </a:solidFill>
                <a:latin typeface="Segoe UI"/>
              </a:rPr>
              <a:t>Both failing in the 4-speaker condition is what the ablation predicts</a:t>
            </a:r>
          </a:p>
          <a:p>
            <a:pPr algn="l">
              <a:spcAft>
                <a:spcPts val="0"/>
              </a:spcAft>
            </a:pPr>
            <a:r>
              <a:rPr sz="1200" b="0" i="0">
                <a:solidFill>
                  <a:srgbClr val="121A20"/>
                </a:solidFill>
                <a:latin typeface="Segoe UI"/>
              </a:rPr>
              <a:t>A defect that lives in the interaction between two checkpoints is reachable neither by adjusting one stage, nor by post-processing the pair's output. Reported as a characterized limitation with an established cause — not quietly dropped.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How much room is actually left?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question that redirected Phase Two</a:t>
            </a:r>
          </a:p>
        </p:txBody>
      </p:sp>
      <p:pic>
        <p:nvPicPr>
          <p:cNvPr id="5" name="Picture 4" descr="06_ceiling.png"/>
          <p:cNvPicPr>
            <a:picLocks noChangeAspect="1"/>
          </p:cNvPicPr>
          <p:nvPr/>
        </p:nvPicPr>
        <p:blipFill>
          <a:blip r:embed="rId2"/>
          <a:stretch>
            <a:fillRect/>
          </a:stretch>
        </p:blipFill>
        <p:spPr>
          <a:xfrm>
            <a:off x="939838" y="1051560"/>
            <a:ext cx="7264323" cy="2286000"/>
          </a:xfrm>
          <a:prstGeom prst="rect">
            <a:avLst/>
          </a:prstGeom>
        </p:spPr>
      </p:pic>
      <p:sp>
        <p:nvSpPr>
          <p:cNvPr id="6" name="TextBox 5"/>
          <p:cNvSpPr txBox="1"/>
          <p:nvPr/>
        </p:nvSpPr>
        <p:spPr>
          <a:xfrm>
            <a:off x="411480" y="3520440"/>
            <a:ext cx="8321040" cy="1371600"/>
          </a:xfrm>
          <a:prstGeom prst="rect">
            <a:avLst/>
          </a:prstGeom>
          <a:noFill/>
        </p:spPr>
        <p:txBody>
          <a:bodyPr wrap="square" lIns="0" rIns="0" tIns="0" bIns="0">
            <a:spAutoFit/>
          </a:bodyPr>
          <a:lstStyle/>
          <a:p>
            <a:pPr algn="l">
              <a:spcAft>
                <a:spcPts val="600"/>
              </a:spcAft>
            </a:pPr>
            <a:r>
              <a:rPr sz="1250" b="0" i="0">
                <a:solidFill>
                  <a:srgbClr val="121A20"/>
                </a:solidFill>
                <a:latin typeface="Segoe UI"/>
              </a:rPr>
              <a:t>The ceiling probe passes the GROUND-TRUTH clean target through the same mel → HiFi-GAN → WavLM chain as every other probe. So 90.3% is what perfect extraction of perfectly clean speech scores.</a:t>
            </a:r>
          </a:p>
          <a:p>
            <a:pPr algn="l">
              <a:spcAft>
                <a:spcPts val="0"/>
              </a:spcAft>
            </a:pPr>
            <a:r>
              <a:rPr sz="1250" b="1" i="0">
                <a:solidFill>
                  <a:srgbClr val="9E3535"/>
                </a:solidFill>
                <a:latin typeface="Segoe UI"/>
              </a:rPr>
              <a:t>The remaining 9.7 pp is lost by the vocoder and speaker encoder before extraction quality enters the picture at all.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The prediction, and the test</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Five experiments that all failed — as predicted</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800"/>
              </a:spcAft>
            </a:pPr>
            <a:r>
              <a:rPr sz="1250" b="0" i="0">
                <a:solidFill>
                  <a:srgbClr val="121A20"/>
                </a:solidFill>
                <a:latin typeface="Segoe UI"/>
              </a:rPr>
              <a:t>The ceiling analysis said Stage 2 and the operating point are SATURATED at the trained SNR: a perfect Stage 1 would score 90.0% against a 90.3% ceiling.</a:t>
            </a:r>
          </a:p>
          <a:p>
            <a:pPr algn="l">
              <a:spcAft>
                <a:spcPts val="700"/>
              </a:spcAft>
            </a:pPr>
            <a:r>
              <a:rPr sz="1250" b="0" i="0">
                <a:solidFill>
                  <a:srgbClr val="121A20"/>
                </a:solidFill>
                <a:latin typeface="Segoe UI"/>
              </a:rPr>
              <a:t>If that is true, inference-time tuning should buy nothing. We tested five:</a:t>
            </a:r>
          </a:p>
          <a:p>
            <a:pPr>
              <a:spcAft>
                <a:spcPts val="500"/>
              </a:spcAft>
            </a:pPr>
            <a:r>
              <a:rPr sz="1200" b="1">
                <a:solidFill>
                  <a:srgbClr val="9E3535"/>
                </a:solidFill>
                <a:latin typeface="Segoe UI"/>
              </a:rPr>
              <a:t>✕  Onset padding/splice  </a:t>
            </a:r>
            <a:r>
              <a:rPr sz="1200">
                <a:solidFill>
                  <a:srgbClr val="657782"/>
                </a:solidFill>
                <a:latin typeface="Segoe UI"/>
              </a:rPr>
              <a:t>(repair the gate at inference)  →  no accuracy change</a:t>
            </a:r>
          </a:p>
          <a:p>
            <a:pPr>
              <a:spcAft>
                <a:spcPts val="500"/>
              </a:spcAft>
            </a:pPr>
            <a:r>
              <a:rPr sz="1200" b="1">
                <a:solidFill>
                  <a:srgbClr val="9E3535"/>
                </a:solidFill>
                <a:latin typeface="Segoe UI"/>
              </a:rPr>
              <a:t>✕  CFG warm-up  </a:t>
            </a:r>
            <a:r>
              <a:rPr sz="1200">
                <a:solidFill>
                  <a:srgbClr val="657782"/>
                </a:solidFill>
                <a:latin typeface="Segoe UI"/>
              </a:rPr>
              <a:t>(flagged as ‘improves everything’)  →  accuracy fell everywhere</a:t>
            </a:r>
          </a:p>
          <a:p>
            <a:pPr>
              <a:spcAft>
                <a:spcPts val="500"/>
              </a:spcAft>
            </a:pPr>
            <a:r>
              <a:rPr sz="1200" b="1">
                <a:solidFill>
                  <a:srgbClr val="9E3535"/>
                </a:solidFill>
                <a:latin typeface="Segoe UI"/>
              </a:rPr>
              <a:t>✕  Longer enrollment (5s)  </a:t>
            </a:r>
            <a:r>
              <a:rPr sz="1200">
                <a:solidFill>
                  <a:srgbClr val="657782"/>
                </a:solidFill>
                <a:latin typeface="Segoe UI"/>
              </a:rPr>
              <a:t>(known strong TSE lever)  →  worse — the ceiling itself fell</a:t>
            </a:r>
          </a:p>
          <a:p>
            <a:pPr>
              <a:spcAft>
                <a:spcPts val="500"/>
              </a:spcAft>
            </a:pPr>
            <a:r>
              <a:rPr sz="1200" b="1">
                <a:solidFill>
                  <a:srgbClr val="9E3535"/>
                </a:solidFill>
                <a:latin typeface="Segoe UI"/>
              </a:rPr>
              <a:t>✕  Heun ODE solver  </a:t>
            </a:r>
            <a:r>
              <a:rPr sz="1200">
                <a:solidFill>
                  <a:srgbClr val="657782"/>
                </a:solidFill>
                <a:latin typeface="Segoe UI"/>
              </a:rPr>
              <a:t>(2nd-order, at equal compute)  →  worse, especially at low SNR</a:t>
            </a:r>
          </a:p>
          <a:p>
            <a:pPr>
              <a:spcAft>
                <a:spcPts val="500"/>
              </a:spcAft>
            </a:pPr>
            <a:r>
              <a:rPr sz="1200" b="1">
                <a:solidFill>
                  <a:srgbClr val="9E3535"/>
                </a:solidFill>
                <a:latin typeface="Segoe UI"/>
              </a:rPr>
              <a:t>✕  Alternate projection  </a:t>
            </a:r>
            <a:r>
              <a:rPr sz="1200">
                <a:solidFill>
                  <a:srgbClr val="657782"/>
                </a:solidFill>
                <a:latin typeface="Segoe UI"/>
              </a:rPr>
              <a:t>(never-evaluated checkpoint)  →  same accuracy, lower AUC</a:t>
            </a:r>
          </a:p>
          <a:p>
            <a:pPr algn="l">
              <a:spcAft>
                <a:spcPts val="0"/>
              </a:spcAft>
            </a:pPr>
            <a:r>
              <a:rPr sz="1250" b="1" i="0">
                <a:solidFill>
                  <a:srgbClr val="0E6F6B"/>
                </a:solidFill>
                <a:latin typeface="Segoe UI"/>
              </a:rPr>
              <a:t>Five for five. That is not bad luck — it is what a saturated operating point looks like, and it is the strongest evidence that the ceiling analysis is correct.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Two of those rejections taught us something</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mechanism matters more than the verdict</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500"/>
              </a:spcAft>
            </a:pPr>
            <a:r>
              <a:rPr sz="1300" b="1" i="0">
                <a:solidFill>
                  <a:srgbClr val="121A20"/>
                </a:solidFill>
                <a:latin typeface="Segoe UI"/>
              </a:rPr>
              <a:t>Heun solver — why a better integrator made things worse</a:t>
            </a:r>
          </a:p>
          <a:p>
            <a:pPr algn="l">
              <a:spcAft>
                <a:spcPts val="1000"/>
              </a:spcAft>
            </a:pPr>
            <a:r>
              <a:rPr sz="1200" b="0" i="0">
                <a:solidFill>
                  <a:srgbClr val="121A20"/>
                </a:solidFill>
                <a:latin typeface="Segoe UI"/>
              </a:rPr>
              <a:t>Stage 2 is trained with a RECTIFIED FLOW objective, which explicitly optimizes for straight trajectories. Euler is exact on a straight line, so there was no integration error left for a 2nd-order method to recover — while halving the steps to hold compute fixed also halved the number of guidance applications. Our unit test confirms the solver IS more accurate on a curved field; the model simply does not produce one.</a:t>
            </a:r>
          </a:p>
          <a:p>
            <a:pPr algn="l">
              <a:spcAft>
                <a:spcPts val="500"/>
              </a:spcAft>
            </a:pPr>
            <a:r>
              <a:rPr sz="1300" b="1" i="0">
                <a:solidFill>
                  <a:srgbClr val="121A20"/>
                </a:solidFill>
                <a:latin typeface="Segoe UI"/>
              </a:rPr>
              <a:t>CFG warm-up — why ‘no metric worse’ was an illusion</a:t>
            </a:r>
          </a:p>
          <a:p>
            <a:pPr algn="l">
              <a:spcAft>
                <a:spcPts val="0"/>
              </a:spcAft>
            </a:pPr>
            <a:r>
              <a:rPr sz="1200" b="0" i="0">
                <a:solidFill>
                  <a:srgbClr val="121A20"/>
                </a:solidFill>
                <a:latin typeface="Segoe UI"/>
              </a:rPr>
              <a:t>It had been flagged twice as the only change improving every measured metric with nothing worse. It had never been measured on ACCURACY, because only one of five evaluation scripts exposed the flag. Wired through and measured: the quality gains replicated, and accuracy fell in every condition. Warm-up is simply weaker guidance re-parameterized.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Listening tests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metrics are proxies — these are the actual outputs</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1000"/>
              </a:spcAft>
            </a:pPr>
            <a:r>
              <a:rPr sz="1300" b="0" i="0">
                <a:solidFill>
                  <a:srgbClr val="121A20"/>
                </a:solidFill>
                <a:latin typeface="Segoe UI"/>
              </a:rPr>
              <a:t>Every number in this deck is a proxy for one question: does the output sound like the target speaker? The following slides contain the real audio, embedded — click to play.</a:t>
            </a:r>
          </a:p>
          <a:p>
            <a:pPr algn="l">
              <a:spcAft>
                <a:spcPts val="600"/>
              </a:spcAft>
            </a:pPr>
            <a:r>
              <a:rPr sz="1250" b="1" i="0">
                <a:solidFill>
                  <a:srgbClr val="121A20"/>
                </a:solidFill>
                <a:latin typeface="Segoe UI"/>
              </a:rPr>
              <a:t>Each slide gives you three clips for the same sample:</a:t>
            </a:r>
          </a:p>
          <a:p>
            <a:pPr>
              <a:spcAft>
                <a:spcPts val="500"/>
              </a:spcAft>
            </a:pPr>
            <a:r>
              <a:rPr sz="1250" b="1">
                <a:solidFill>
                  <a:srgbClr val="657782"/>
                </a:solidFill>
                <a:latin typeface="Segoe UI"/>
              </a:rPr>
              <a:t>    Mixture  —  </a:t>
            </a:r>
            <a:r>
              <a:rPr sz="1250">
                <a:solidFill>
                  <a:srgbClr val="121A20"/>
                </a:solidFill>
                <a:latin typeface="Segoe UI"/>
              </a:rPr>
              <a:t>what a microphone would pick up — all speakers at once</a:t>
            </a:r>
          </a:p>
          <a:p>
            <a:pPr>
              <a:spcAft>
                <a:spcPts val="500"/>
              </a:spcAft>
            </a:pPr>
            <a:r>
              <a:rPr sz="1250" b="1">
                <a:solidFill>
                  <a:srgbClr val="0E6F6B"/>
                </a:solidFill>
                <a:latin typeface="Segoe UI"/>
              </a:rPr>
              <a:t>    Extracted  —  </a:t>
            </a:r>
            <a:r>
              <a:rPr sz="1250">
                <a:solidFill>
                  <a:srgbClr val="121A20"/>
                </a:solidFill>
                <a:latin typeface="Segoe UI"/>
              </a:rPr>
              <a:t>our system's output — this is the one to judge</a:t>
            </a:r>
          </a:p>
          <a:p>
            <a:pPr>
              <a:spcAft>
                <a:spcPts val="500"/>
              </a:spcAft>
            </a:pPr>
            <a:r>
              <a:rPr sz="1250" b="1">
                <a:solidFill>
                  <a:srgbClr val="2C6E49"/>
                </a:solidFill>
                <a:latin typeface="Segoe UI"/>
              </a:rPr>
              <a:t>    Clean target  —  </a:t>
            </a:r>
            <a:r>
              <a:rPr sz="1250">
                <a:solidFill>
                  <a:srgbClr val="121A20"/>
                </a:solidFill>
                <a:latin typeface="Segoe UI"/>
              </a:rPr>
              <a:t>ground truth, vocoded from its own mel — the ceiling</a:t>
            </a:r>
          </a:p>
          <a:p>
            <a:pPr algn="l">
              <a:spcAft>
                <a:spcPts val="0"/>
              </a:spcAft>
            </a:pPr>
            <a:r>
              <a:rPr sz="1150" b="0" i="0">
                <a:solidFill>
                  <a:srgbClr val="657782"/>
                </a:solidFill>
                <a:latin typeface="Segoe UI"/>
              </a:rPr>
              <a:t>All samples come from the CURRENT deployed checkpoint at the trained SNR range. The clean target is vocoded rather than raw, so you hear the vocoder's own ceiling — that is deliberate, it is the fair comparison.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Listening · 2 speakers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Sample: 2speakers/sample_01  ·  current checkpoint, trained SNR</a:t>
            </a:r>
          </a:p>
        </p:txBody>
      </p:sp>
      <p:sp>
        <p:nvSpPr>
          <p:cNvPr id="5" name="Rounded Rectangle 4"/>
          <p:cNvSpPr/>
          <p:nvPr/>
        </p:nvSpPr>
        <p:spPr>
          <a:xfrm>
            <a:off x="411480" y="1188720"/>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mixture.wav">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502920" y="1307592"/>
            <a:ext cx="384048" cy="384048"/>
          </a:xfrm>
          <a:prstGeom prst="rect">
            <a:avLst/>
          </a:prstGeom>
        </p:spPr>
      </p:pic>
      <p:sp>
        <p:nvSpPr>
          <p:cNvPr id="7" name="TextBox 6"/>
          <p:cNvSpPr txBox="1"/>
          <p:nvPr/>
        </p:nvSpPr>
        <p:spPr>
          <a:xfrm>
            <a:off x="978408" y="1243584"/>
            <a:ext cx="1874519" cy="548640"/>
          </a:xfrm>
          <a:prstGeom prst="rect">
            <a:avLst/>
          </a:prstGeom>
          <a:noFill/>
        </p:spPr>
        <p:txBody>
          <a:bodyPr wrap="square" lIns="0" rIns="0" tIns="0" bIns="0">
            <a:spAutoFit/>
          </a:bodyPr>
          <a:lstStyle/>
          <a:p>
            <a:pPr algn="l">
              <a:spcAft>
                <a:spcPts val="0"/>
              </a:spcAft>
            </a:pPr>
            <a:r>
              <a:rPr sz="1150" b="1" i="0">
                <a:solidFill>
                  <a:srgbClr val="657782"/>
                </a:solidFill>
                <a:latin typeface="Segoe UI"/>
              </a:rPr>
              <a:t>Mixture</a:t>
            </a:r>
          </a:p>
          <a:p>
            <a:pPr algn="l">
              <a:spcAft>
                <a:spcPts val="0"/>
              </a:spcAft>
            </a:pPr>
            <a:r>
              <a:rPr sz="900" b="0" i="0">
                <a:solidFill>
                  <a:srgbClr val="657782"/>
                </a:solidFill>
                <a:latin typeface="Segoe UI"/>
              </a:rPr>
              <a:t>all speakers together</a:t>
            </a:r>
          </a:p>
        </p:txBody>
      </p:sp>
      <p:sp>
        <p:nvSpPr>
          <p:cNvPr id="8" name="Rounded Rectangle 7"/>
          <p:cNvSpPr/>
          <p:nvPr/>
        </p:nvSpPr>
        <p:spPr>
          <a:xfrm>
            <a:off x="411480" y="1901952"/>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extracted.wav">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4"/>
          <a:stretch>
            <a:fillRect/>
          </a:stretch>
        </p:blipFill>
        <p:spPr>
          <a:xfrm>
            <a:off x="502920" y="2020824"/>
            <a:ext cx="384048" cy="384048"/>
          </a:xfrm>
          <a:prstGeom prst="rect">
            <a:avLst/>
          </a:prstGeom>
        </p:spPr>
      </p:pic>
      <p:sp>
        <p:nvSpPr>
          <p:cNvPr id="10" name="TextBox 9"/>
          <p:cNvSpPr txBox="1"/>
          <p:nvPr/>
        </p:nvSpPr>
        <p:spPr>
          <a:xfrm>
            <a:off x="978408" y="1956816"/>
            <a:ext cx="1874519" cy="548640"/>
          </a:xfrm>
          <a:prstGeom prst="rect">
            <a:avLst/>
          </a:prstGeom>
          <a:noFill/>
        </p:spPr>
        <p:txBody>
          <a:bodyPr wrap="square" lIns="0" rIns="0" tIns="0" bIns="0">
            <a:spAutoFit/>
          </a:bodyPr>
          <a:lstStyle/>
          <a:p>
            <a:pPr algn="l">
              <a:spcAft>
                <a:spcPts val="0"/>
              </a:spcAft>
            </a:pPr>
            <a:r>
              <a:rPr sz="1150" b="1" i="0">
                <a:solidFill>
                  <a:srgbClr val="0E6F6B"/>
                </a:solidFill>
                <a:latin typeface="Segoe UI"/>
              </a:rPr>
              <a:t>Extracted  ◀  our output</a:t>
            </a:r>
          </a:p>
          <a:p>
            <a:pPr algn="l">
              <a:spcAft>
                <a:spcPts val="0"/>
              </a:spcAft>
            </a:pPr>
            <a:r>
              <a:rPr sz="900" b="0" i="0">
                <a:solidFill>
                  <a:srgbClr val="657782"/>
                </a:solidFill>
                <a:latin typeface="Segoe UI"/>
              </a:rPr>
              <a:t>judge this one</a:t>
            </a:r>
          </a:p>
        </p:txBody>
      </p:sp>
      <p:sp>
        <p:nvSpPr>
          <p:cNvPr id="11" name="Rounded Rectangle 10"/>
          <p:cNvSpPr/>
          <p:nvPr/>
        </p:nvSpPr>
        <p:spPr>
          <a:xfrm>
            <a:off x="411480" y="2615184"/>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target_clean.wav">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4"/>
          <a:stretch>
            <a:fillRect/>
          </a:stretch>
        </p:blipFill>
        <p:spPr>
          <a:xfrm>
            <a:off x="502920" y="2734056"/>
            <a:ext cx="384048" cy="384048"/>
          </a:xfrm>
          <a:prstGeom prst="rect">
            <a:avLst/>
          </a:prstGeom>
        </p:spPr>
      </p:pic>
      <p:sp>
        <p:nvSpPr>
          <p:cNvPr id="13" name="TextBox 12"/>
          <p:cNvSpPr txBox="1"/>
          <p:nvPr/>
        </p:nvSpPr>
        <p:spPr>
          <a:xfrm>
            <a:off x="978408" y="2670048"/>
            <a:ext cx="1874519" cy="548640"/>
          </a:xfrm>
          <a:prstGeom prst="rect">
            <a:avLst/>
          </a:prstGeom>
          <a:noFill/>
        </p:spPr>
        <p:txBody>
          <a:bodyPr wrap="square" lIns="0" rIns="0" tIns="0" bIns="0">
            <a:spAutoFit/>
          </a:bodyPr>
          <a:lstStyle/>
          <a:p>
            <a:pPr algn="l">
              <a:spcAft>
                <a:spcPts val="0"/>
              </a:spcAft>
            </a:pPr>
            <a:r>
              <a:rPr sz="1150" b="1" i="0">
                <a:solidFill>
                  <a:srgbClr val="2C6E49"/>
                </a:solidFill>
                <a:latin typeface="Segoe UI"/>
              </a:rPr>
              <a:t>Clean target</a:t>
            </a:r>
          </a:p>
          <a:p>
            <a:pPr algn="l">
              <a:spcAft>
                <a:spcPts val="0"/>
              </a:spcAft>
            </a:pPr>
            <a:r>
              <a:rPr sz="900" b="0" i="0">
                <a:solidFill>
                  <a:srgbClr val="657782"/>
                </a:solidFill>
                <a:latin typeface="Segoe UI"/>
              </a:rPr>
              <a:t>ground-truth ceiling</a:t>
            </a:r>
          </a:p>
        </p:txBody>
      </p:sp>
      <p:sp>
        <p:nvSpPr>
          <p:cNvPr id="14" name="TextBox 13"/>
          <p:cNvSpPr txBox="1"/>
          <p:nvPr/>
        </p:nvSpPr>
        <p:spPr>
          <a:xfrm>
            <a:off x="3474720" y="1188720"/>
            <a:ext cx="5212080" cy="2194560"/>
          </a:xfrm>
          <a:prstGeom prst="rect">
            <a:avLst/>
          </a:prstGeom>
          <a:noFill/>
        </p:spPr>
        <p:txBody>
          <a:bodyPr wrap="square" lIns="0" rIns="0" tIns="0" bIns="0">
            <a:spAutoFit/>
          </a:bodyPr>
          <a:lstStyle/>
          <a:p>
            <a:pPr algn="l">
              <a:spcAft>
                <a:spcPts val="500"/>
              </a:spcAft>
            </a:pPr>
            <a:r>
              <a:rPr sz="1250" b="1" i="0">
                <a:solidFill>
                  <a:srgbClr val="121A20"/>
                </a:solidFill>
                <a:latin typeface="Segoe UI"/>
              </a:rPr>
              <a:t>What you are hearing</a:t>
            </a:r>
          </a:p>
          <a:p>
            <a:pPr algn="l">
              <a:spcAft>
                <a:spcPts val="300"/>
              </a:spcAft>
            </a:pPr>
            <a:r>
              <a:rPr sz="1150" b="0" i="0">
                <a:solidFill>
                  <a:srgbClr val="121A20"/>
                </a:solidFill>
                <a:latin typeface="Segoe UI"/>
              </a:rPr>
              <a:t>•  Target speaker 1188, one interferer (5105) at +4.8 dB</a:t>
            </a:r>
          </a:p>
          <a:p>
            <a:pPr algn="l">
              <a:spcAft>
                <a:spcPts val="300"/>
              </a:spcAft>
            </a:pPr>
            <a:r>
              <a:rPr sz="1150" b="0" i="0">
                <a:solidFill>
                  <a:srgbClr val="121A20"/>
                </a:solidFill>
                <a:latin typeface="Segoe UI"/>
              </a:rPr>
              <a:t>•  Mel improvement over Stage 1:  +82.6%</a:t>
            </a:r>
          </a:p>
          <a:p>
            <a:pPr algn="l">
              <a:spcAft>
                <a:spcPts val="300"/>
              </a:spcAft>
            </a:pPr>
            <a:r>
              <a:rPr sz="1150" b="0" i="0">
                <a:solidFill>
                  <a:srgbClr val="121A20"/>
                </a:solidFill>
                <a:latin typeface="Segoe UI"/>
              </a:rPr>
              <a:t>•  Speaker similarity to reference:  mixture −0.02  →  extracted 0.60</a:t>
            </a:r>
          </a:p>
          <a:p>
            <a:pPr algn="l">
              <a:spcAft>
                <a:spcPts val="300"/>
              </a:spcAft>
            </a:pPr>
            <a:r>
              <a:rPr sz="1150" b="0" i="0">
                <a:solidFill>
                  <a:srgbClr val="121A20"/>
                </a:solidFill>
                <a:latin typeface="Segoe UI"/>
              </a:rPr>
              <a:t>•  Vocoded ceiling for this sample: 0.54</a:t>
            </a:r>
          </a:p>
        </p:txBody>
      </p:sp>
      <p:sp>
        <p:nvSpPr>
          <p:cNvPr id="15" name="Rounded Rectangle 14"/>
          <p:cNvSpPr/>
          <p:nvPr/>
        </p:nvSpPr>
        <p:spPr>
          <a:xfrm>
            <a:off x="3474720" y="3127248"/>
            <a:ext cx="2194560" cy="274320"/>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EXTRACTION EXCEEDS THE CEILING</a:t>
            </a:r>
          </a:p>
        </p:txBody>
      </p:sp>
      <p:sp>
        <p:nvSpPr>
          <p:cNvPr id="16" name="TextBox 15"/>
          <p:cNvSpPr txBox="1"/>
          <p:nvPr/>
        </p:nvSpPr>
        <p:spPr>
          <a:xfrm>
            <a:off x="411480" y="3611880"/>
            <a:ext cx="8321040" cy="1280160"/>
          </a:xfrm>
          <a:prstGeom prst="rect">
            <a:avLst/>
          </a:prstGeom>
          <a:noFill/>
        </p:spPr>
        <p:txBody>
          <a:bodyPr wrap="square" lIns="0" rIns="0" tIns="0" bIns="0">
            <a:spAutoFit/>
          </a:bodyPr>
          <a:lstStyle/>
          <a:p>
            <a:pPr algn="l">
              <a:spcAft>
                <a:spcPts val="0"/>
              </a:spcAft>
            </a:pPr>
            <a:r>
              <a:rPr sz="1200" b="0" i="0">
                <a:solidFill>
                  <a:srgbClr val="121A20"/>
                </a:solidFill>
                <a:latin typeface="Segoe UI"/>
              </a:rPr>
              <a:t>The extracted output scores HIGHER on speaker similarity than the vocoded ground truth (0.60 vs 0.54). That is not an error: both pass through the same vocoder, and the extraction happens to land slightly closer to the reference embedding than the vocoded original does. It is a useful reminder that the ceiling is a measurement artifact, not a physical limit.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video>
              <p:cMediaNode vol="80000">
                <p:cTn id="3" fill="hold" display="0">
                  <p:stCondLst>
                    <p:cond delay="indefinite"/>
                  </p:stCondLst>
                </p:cTn>
                <p:tgtEl>
                  <p:spTgt spid="9"/>
                </p:tgtEl>
              </p:cMediaNode>
            </p:video>
            <p:video>
              <p:cMediaNode vol="80000">
                <p:cTn id="4" fill="hold" display="0">
                  <p:stCondLst>
                    <p:cond delay="indefinite"/>
                  </p:stCondLst>
                </p:cTn>
                <p:tgtEl>
                  <p:spTgt spid="12"/>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Listening · 3 speakers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Sample: 3speakers/sample_01  ·  current checkpoint, trained SNR</a:t>
            </a:r>
          </a:p>
        </p:txBody>
      </p:sp>
      <p:sp>
        <p:nvSpPr>
          <p:cNvPr id="5" name="Rounded Rectangle 4"/>
          <p:cNvSpPr/>
          <p:nvPr/>
        </p:nvSpPr>
        <p:spPr>
          <a:xfrm>
            <a:off x="411480" y="1188720"/>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mixture.wav">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502920" y="1307592"/>
            <a:ext cx="384048" cy="384048"/>
          </a:xfrm>
          <a:prstGeom prst="rect">
            <a:avLst/>
          </a:prstGeom>
        </p:spPr>
      </p:pic>
      <p:sp>
        <p:nvSpPr>
          <p:cNvPr id="7" name="TextBox 6"/>
          <p:cNvSpPr txBox="1"/>
          <p:nvPr/>
        </p:nvSpPr>
        <p:spPr>
          <a:xfrm>
            <a:off x="978408" y="1243584"/>
            <a:ext cx="1874519" cy="548640"/>
          </a:xfrm>
          <a:prstGeom prst="rect">
            <a:avLst/>
          </a:prstGeom>
          <a:noFill/>
        </p:spPr>
        <p:txBody>
          <a:bodyPr wrap="square" lIns="0" rIns="0" tIns="0" bIns="0">
            <a:spAutoFit/>
          </a:bodyPr>
          <a:lstStyle/>
          <a:p>
            <a:pPr algn="l">
              <a:spcAft>
                <a:spcPts val="0"/>
              </a:spcAft>
            </a:pPr>
            <a:r>
              <a:rPr sz="1150" b="1" i="0">
                <a:solidFill>
                  <a:srgbClr val="657782"/>
                </a:solidFill>
                <a:latin typeface="Segoe UI"/>
              </a:rPr>
              <a:t>Mixture</a:t>
            </a:r>
          </a:p>
          <a:p>
            <a:pPr algn="l">
              <a:spcAft>
                <a:spcPts val="0"/>
              </a:spcAft>
            </a:pPr>
            <a:r>
              <a:rPr sz="900" b="0" i="0">
                <a:solidFill>
                  <a:srgbClr val="657782"/>
                </a:solidFill>
                <a:latin typeface="Segoe UI"/>
              </a:rPr>
              <a:t>all speakers together</a:t>
            </a:r>
          </a:p>
        </p:txBody>
      </p:sp>
      <p:sp>
        <p:nvSpPr>
          <p:cNvPr id="8" name="Rounded Rectangle 7"/>
          <p:cNvSpPr/>
          <p:nvPr/>
        </p:nvSpPr>
        <p:spPr>
          <a:xfrm>
            <a:off x="411480" y="1901952"/>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extracted.wav">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4"/>
          <a:stretch>
            <a:fillRect/>
          </a:stretch>
        </p:blipFill>
        <p:spPr>
          <a:xfrm>
            <a:off x="502920" y="2020824"/>
            <a:ext cx="384048" cy="384048"/>
          </a:xfrm>
          <a:prstGeom prst="rect">
            <a:avLst/>
          </a:prstGeom>
        </p:spPr>
      </p:pic>
      <p:sp>
        <p:nvSpPr>
          <p:cNvPr id="10" name="TextBox 9"/>
          <p:cNvSpPr txBox="1"/>
          <p:nvPr/>
        </p:nvSpPr>
        <p:spPr>
          <a:xfrm>
            <a:off x="978408" y="1956816"/>
            <a:ext cx="1874519" cy="548640"/>
          </a:xfrm>
          <a:prstGeom prst="rect">
            <a:avLst/>
          </a:prstGeom>
          <a:noFill/>
        </p:spPr>
        <p:txBody>
          <a:bodyPr wrap="square" lIns="0" rIns="0" tIns="0" bIns="0">
            <a:spAutoFit/>
          </a:bodyPr>
          <a:lstStyle/>
          <a:p>
            <a:pPr algn="l">
              <a:spcAft>
                <a:spcPts val="0"/>
              </a:spcAft>
            </a:pPr>
            <a:r>
              <a:rPr sz="1150" b="1" i="0">
                <a:solidFill>
                  <a:srgbClr val="0E6F6B"/>
                </a:solidFill>
                <a:latin typeface="Segoe UI"/>
              </a:rPr>
              <a:t>Extracted  ◀  our output</a:t>
            </a:r>
          </a:p>
          <a:p>
            <a:pPr algn="l">
              <a:spcAft>
                <a:spcPts val="0"/>
              </a:spcAft>
            </a:pPr>
            <a:r>
              <a:rPr sz="900" b="0" i="0">
                <a:solidFill>
                  <a:srgbClr val="657782"/>
                </a:solidFill>
                <a:latin typeface="Segoe UI"/>
              </a:rPr>
              <a:t>judge this one</a:t>
            </a:r>
          </a:p>
        </p:txBody>
      </p:sp>
      <p:sp>
        <p:nvSpPr>
          <p:cNvPr id="11" name="Rounded Rectangle 10"/>
          <p:cNvSpPr/>
          <p:nvPr/>
        </p:nvSpPr>
        <p:spPr>
          <a:xfrm>
            <a:off x="411480" y="2615184"/>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target_clean.wav">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4"/>
          <a:stretch>
            <a:fillRect/>
          </a:stretch>
        </p:blipFill>
        <p:spPr>
          <a:xfrm>
            <a:off x="502920" y="2734056"/>
            <a:ext cx="384048" cy="384048"/>
          </a:xfrm>
          <a:prstGeom prst="rect">
            <a:avLst/>
          </a:prstGeom>
        </p:spPr>
      </p:pic>
      <p:sp>
        <p:nvSpPr>
          <p:cNvPr id="13" name="TextBox 12"/>
          <p:cNvSpPr txBox="1"/>
          <p:nvPr/>
        </p:nvSpPr>
        <p:spPr>
          <a:xfrm>
            <a:off x="978408" y="2670048"/>
            <a:ext cx="1874519" cy="548640"/>
          </a:xfrm>
          <a:prstGeom prst="rect">
            <a:avLst/>
          </a:prstGeom>
          <a:noFill/>
        </p:spPr>
        <p:txBody>
          <a:bodyPr wrap="square" lIns="0" rIns="0" tIns="0" bIns="0">
            <a:spAutoFit/>
          </a:bodyPr>
          <a:lstStyle/>
          <a:p>
            <a:pPr algn="l">
              <a:spcAft>
                <a:spcPts val="0"/>
              </a:spcAft>
            </a:pPr>
            <a:r>
              <a:rPr sz="1150" b="1" i="0">
                <a:solidFill>
                  <a:srgbClr val="2C6E49"/>
                </a:solidFill>
                <a:latin typeface="Segoe UI"/>
              </a:rPr>
              <a:t>Clean target</a:t>
            </a:r>
          </a:p>
          <a:p>
            <a:pPr algn="l">
              <a:spcAft>
                <a:spcPts val="0"/>
              </a:spcAft>
            </a:pPr>
            <a:r>
              <a:rPr sz="900" b="0" i="0">
                <a:solidFill>
                  <a:srgbClr val="657782"/>
                </a:solidFill>
                <a:latin typeface="Segoe UI"/>
              </a:rPr>
              <a:t>ground-truth ceiling</a:t>
            </a:r>
          </a:p>
        </p:txBody>
      </p:sp>
      <p:sp>
        <p:nvSpPr>
          <p:cNvPr id="14" name="TextBox 13"/>
          <p:cNvSpPr txBox="1"/>
          <p:nvPr/>
        </p:nvSpPr>
        <p:spPr>
          <a:xfrm>
            <a:off x="3474720" y="1188720"/>
            <a:ext cx="5212080" cy="2194560"/>
          </a:xfrm>
          <a:prstGeom prst="rect">
            <a:avLst/>
          </a:prstGeom>
          <a:noFill/>
        </p:spPr>
        <p:txBody>
          <a:bodyPr wrap="square" lIns="0" rIns="0" tIns="0" bIns="0">
            <a:spAutoFit/>
          </a:bodyPr>
          <a:lstStyle/>
          <a:p>
            <a:pPr algn="l">
              <a:spcAft>
                <a:spcPts val="500"/>
              </a:spcAft>
            </a:pPr>
            <a:r>
              <a:rPr sz="1250" b="1" i="0">
                <a:solidFill>
                  <a:srgbClr val="121A20"/>
                </a:solidFill>
                <a:latin typeface="Segoe UI"/>
              </a:rPr>
              <a:t>What you are hearing</a:t>
            </a:r>
          </a:p>
          <a:p>
            <a:pPr algn="l">
              <a:spcAft>
                <a:spcPts val="300"/>
              </a:spcAft>
            </a:pPr>
            <a:r>
              <a:rPr sz="1150" b="0" i="0">
                <a:solidFill>
                  <a:srgbClr val="121A20"/>
                </a:solidFill>
                <a:latin typeface="Segoe UI"/>
              </a:rPr>
              <a:t>•  Target 1188, two interferers (5105, 2094) at +8.1 and +1.3 dB</a:t>
            </a:r>
          </a:p>
          <a:p>
            <a:pPr algn="l">
              <a:spcAft>
                <a:spcPts val="300"/>
              </a:spcAft>
            </a:pPr>
            <a:r>
              <a:rPr sz="1150" b="0" i="0">
                <a:solidFill>
                  <a:srgbClr val="121A20"/>
                </a:solidFill>
                <a:latin typeface="Segoe UI"/>
              </a:rPr>
              <a:t>•  Mel improvement over Stage 1:  +81.8%</a:t>
            </a:r>
          </a:p>
          <a:p>
            <a:pPr algn="l">
              <a:spcAft>
                <a:spcPts val="300"/>
              </a:spcAft>
            </a:pPr>
            <a:r>
              <a:rPr sz="1150" b="0" i="0">
                <a:solidFill>
                  <a:srgbClr val="121A20"/>
                </a:solidFill>
                <a:latin typeface="Segoe UI"/>
              </a:rPr>
              <a:t>•  Speaker similarity:  mixture 0.44  →  extracted 0.48</a:t>
            </a:r>
          </a:p>
          <a:p>
            <a:pPr algn="l">
              <a:spcAft>
                <a:spcPts val="300"/>
              </a:spcAft>
            </a:pPr>
            <a:r>
              <a:rPr sz="1150" b="0" i="0">
                <a:solidFill>
                  <a:srgbClr val="121A20"/>
                </a:solidFill>
                <a:latin typeface="Segoe UI"/>
              </a:rPr>
              <a:t>•  Vocoded ceiling: 0.54</a:t>
            </a:r>
          </a:p>
        </p:txBody>
      </p:sp>
      <p:sp>
        <p:nvSpPr>
          <p:cNvPr id="15" name="Rounded Rectangle 14"/>
          <p:cNvSpPr/>
          <p:nvPr/>
        </p:nvSpPr>
        <p:spPr>
          <a:xfrm>
            <a:off x="3474720" y="3127248"/>
            <a:ext cx="2194560" cy="274320"/>
          </a:xfrm>
          <a:prstGeom prst="round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CLEAR EXTRACTION, HARDER CASE</a:t>
            </a:r>
          </a:p>
        </p:txBody>
      </p:sp>
      <p:sp>
        <p:nvSpPr>
          <p:cNvPr id="16" name="TextBox 15"/>
          <p:cNvSpPr txBox="1"/>
          <p:nvPr/>
        </p:nvSpPr>
        <p:spPr>
          <a:xfrm>
            <a:off x="411480" y="3611880"/>
            <a:ext cx="8321040" cy="1280160"/>
          </a:xfrm>
          <a:prstGeom prst="rect">
            <a:avLst/>
          </a:prstGeom>
          <a:noFill/>
        </p:spPr>
        <p:txBody>
          <a:bodyPr wrap="square" lIns="0" rIns="0" tIns="0" bIns="0">
            <a:spAutoFit/>
          </a:bodyPr>
          <a:lstStyle/>
          <a:p>
            <a:pPr algn="l">
              <a:spcAft>
                <a:spcPts val="0"/>
              </a:spcAft>
            </a:pPr>
            <a:r>
              <a:rPr sz="1200" b="0" i="0">
                <a:solidFill>
                  <a:srgbClr val="121A20"/>
                </a:solidFill>
                <a:latin typeface="Segoe UI"/>
              </a:rPr>
              <a:t>Three simultaneous talkers, one of them only 1.3 dB below the target. The mel improvement holds up at +81.8%, but notice the similarity gain over the mixture is much smaller than in the 2-speaker case — the mixture already partly resembles the target when the interferers are quieter, so there is less headroom for the metric to show.</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video>
              <p:cMediaNode vol="80000">
                <p:cTn id="3" fill="hold" display="0">
                  <p:stCondLst>
                    <p:cond delay="indefinite"/>
                  </p:stCondLst>
                </p:cTn>
                <p:tgtEl>
                  <p:spTgt spid="9"/>
                </p:tgtEl>
              </p:cMediaNode>
            </p:video>
            <p:video>
              <p:cMediaNode vol="80000">
                <p:cTn id="4" fill="hold" display="0">
                  <p:stCondLst>
                    <p:cond delay="indefinite"/>
                  </p:stCondLst>
                </p:cTn>
                <p:tgtEl>
                  <p:spTgt spid="12"/>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Listening · 4 speakers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Sample: 4speakers/sample_03  ·  current checkpoint, trained SNR</a:t>
            </a:r>
          </a:p>
        </p:txBody>
      </p:sp>
      <p:sp>
        <p:nvSpPr>
          <p:cNvPr id="5" name="Rounded Rectangle 4"/>
          <p:cNvSpPr/>
          <p:nvPr/>
        </p:nvSpPr>
        <p:spPr>
          <a:xfrm>
            <a:off x="411480" y="1188720"/>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mixture.wav">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502920" y="1307592"/>
            <a:ext cx="384048" cy="384048"/>
          </a:xfrm>
          <a:prstGeom prst="rect">
            <a:avLst/>
          </a:prstGeom>
        </p:spPr>
      </p:pic>
      <p:sp>
        <p:nvSpPr>
          <p:cNvPr id="7" name="TextBox 6"/>
          <p:cNvSpPr txBox="1"/>
          <p:nvPr/>
        </p:nvSpPr>
        <p:spPr>
          <a:xfrm>
            <a:off x="978408" y="1243584"/>
            <a:ext cx="1874519" cy="548640"/>
          </a:xfrm>
          <a:prstGeom prst="rect">
            <a:avLst/>
          </a:prstGeom>
          <a:noFill/>
        </p:spPr>
        <p:txBody>
          <a:bodyPr wrap="square" lIns="0" rIns="0" tIns="0" bIns="0">
            <a:spAutoFit/>
          </a:bodyPr>
          <a:lstStyle/>
          <a:p>
            <a:pPr algn="l">
              <a:spcAft>
                <a:spcPts val="0"/>
              </a:spcAft>
            </a:pPr>
            <a:r>
              <a:rPr sz="1150" b="1" i="0">
                <a:solidFill>
                  <a:srgbClr val="657782"/>
                </a:solidFill>
                <a:latin typeface="Segoe UI"/>
              </a:rPr>
              <a:t>Mixture</a:t>
            </a:r>
          </a:p>
          <a:p>
            <a:pPr algn="l">
              <a:spcAft>
                <a:spcPts val="0"/>
              </a:spcAft>
            </a:pPr>
            <a:r>
              <a:rPr sz="900" b="0" i="0">
                <a:solidFill>
                  <a:srgbClr val="657782"/>
                </a:solidFill>
                <a:latin typeface="Segoe UI"/>
              </a:rPr>
              <a:t>all speakers together</a:t>
            </a:r>
          </a:p>
        </p:txBody>
      </p:sp>
      <p:sp>
        <p:nvSpPr>
          <p:cNvPr id="8" name="Rounded Rectangle 7"/>
          <p:cNvSpPr/>
          <p:nvPr/>
        </p:nvSpPr>
        <p:spPr>
          <a:xfrm>
            <a:off x="411480" y="1901952"/>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extracted.wav">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4"/>
          <a:stretch>
            <a:fillRect/>
          </a:stretch>
        </p:blipFill>
        <p:spPr>
          <a:xfrm>
            <a:off x="502920" y="2020824"/>
            <a:ext cx="384048" cy="384048"/>
          </a:xfrm>
          <a:prstGeom prst="rect">
            <a:avLst/>
          </a:prstGeom>
        </p:spPr>
      </p:pic>
      <p:sp>
        <p:nvSpPr>
          <p:cNvPr id="10" name="TextBox 9"/>
          <p:cNvSpPr txBox="1"/>
          <p:nvPr/>
        </p:nvSpPr>
        <p:spPr>
          <a:xfrm>
            <a:off x="978408" y="1956816"/>
            <a:ext cx="1874519" cy="548640"/>
          </a:xfrm>
          <a:prstGeom prst="rect">
            <a:avLst/>
          </a:prstGeom>
          <a:noFill/>
        </p:spPr>
        <p:txBody>
          <a:bodyPr wrap="square" lIns="0" rIns="0" tIns="0" bIns="0">
            <a:spAutoFit/>
          </a:bodyPr>
          <a:lstStyle/>
          <a:p>
            <a:pPr algn="l">
              <a:spcAft>
                <a:spcPts val="0"/>
              </a:spcAft>
            </a:pPr>
            <a:r>
              <a:rPr sz="1150" b="1" i="0">
                <a:solidFill>
                  <a:srgbClr val="0E6F6B"/>
                </a:solidFill>
                <a:latin typeface="Segoe UI"/>
              </a:rPr>
              <a:t>Extracted  ◀  our output</a:t>
            </a:r>
          </a:p>
          <a:p>
            <a:pPr algn="l">
              <a:spcAft>
                <a:spcPts val="0"/>
              </a:spcAft>
            </a:pPr>
            <a:r>
              <a:rPr sz="900" b="0" i="0">
                <a:solidFill>
                  <a:srgbClr val="657782"/>
                </a:solidFill>
                <a:latin typeface="Segoe UI"/>
              </a:rPr>
              <a:t>judge this one</a:t>
            </a:r>
          </a:p>
        </p:txBody>
      </p:sp>
      <p:sp>
        <p:nvSpPr>
          <p:cNvPr id="11" name="Rounded Rectangle 10"/>
          <p:cNvSpPr/>
          <p:nvPr/>
        </p:nvSpPr>
        <p:spPr>
          <a:xfrm>
            <a:off x="411480" y="2615184"/>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target_clean.wav">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4"/>
          <a:stretch>
            <a:fillRect/>
          </a:stretch>
        </p:blipFill>
        <p:spPr>
          <a:xfrm>
            <a:off x="502920" y="2734056"/>
            <a:ext cx="384048" cy="384048"/>
          </a:xfrm>
          <a:prstGeom prst="rect">
            <a:avLst/>
          </a:prstGeom>
        </p:spPr>
      </p:pic>
      <p:sp>
        <p:nvSpPr>
          <p:cNvPr id="13" name="TextBox 12"/>
          <p:cNvSpPr txBox="1"/>
          <p:nvPr/>
        </p:nvSpPr>
        <p:spPr>
          <a:xfrm>
            <a:off x="978408" y="2670048"/>
            <a:ext cx="1874519" cy="548640"/>
          </a:xfrm>
          <a:prstGeom prst="rect">
            <a:avLst/>
          </a:prstGeom>
          <a:noFill/>
        </p:spPr>
        <p:txBody>
          <a:bodyPr wrap="square" lIns="0" rIns="0" tIns="0" bIns="0">
            <a:spAutoFit/>
          </a:bodyPr>
          <a:lstStyle/>
          <a:p>
            <a:pPr algn="l">
              <a:spcAft>
                <a:spcPts val="0"/>
              </a:spcAft>
            </a:pPr>
            <a:r>
              <a:rPr sz="1150" b="1" i="0">
                <a:solidFill>
                  <a:srgbClr val="2C6E49"/>
                </a:solidFill>
                <a:latin typeface="Segoe UI"/>
              </a:rPr>
              <a:t>Clean target</a:t>
            </a:r>
          </a:p>
          <a:p>
            <a:pPr algn="l">
              <a:spcAft>
                <a:spcPts val="0"/>
              </a:spcAft>
            </a:pPr>
            <a:r>
              <a:rPr sz="900" b="0" i="0">
                <a:solidFill>
                  <a:srgbClr val="657782"/>
                </a:solidFill>
                <a:latin typeface="Segoe UI"/>
              </a:rPr>
              <a:t>ground-truth ceiling</a:t>
            </a:r>
          </a:p>
        </p:txBody>
      </p:sp>
      <p:sp>
        <p:nvSpPr>
          <p:cNvPr id="14" name="TextBox 13"/>
          <p:cNvSpPr txBox="1"/>
          <p:nvPr/>
        </p:nvSpPr>
        <p:spPr>
          <a:xfrm>
            <a:off x="3474720" y="1188720"/>
            <a:ext cx="5212080" cy="2194560"/>
          </a:xfrm>
          <a:prstGeom prst="rect">
            <a:avLst/>
          </a:prstGeom>
          <a:noFill/>
        </p:spPr>
        <p:txBody>
          <a:bodyPr wrap="square" lIns="0" rIns="0" tIns="0" bIns="0">
            <a:spAutoFit/>
          </a:bodyPr>
          <a:lstStyle/>
          <a:p>
            <a:pPr algn="l">
              <a:spcAft>
                <a:spcPts val="500"/>
              </a:spcAft>
            </a:pPr>
            <a:r>
              <a:rPr sz="1250" b="1" i="0">
                <a:solidFill>
                  <a:srgbClr val="121A20"/>
                </a:solidFill>
                <a:latin typeface="Segoe UI"/>
              </a:rPr>
              <a:t>What you are hearing</a:t>
            </a:r>
          </a:p>
          <a:p>
            <a:pPr algn="l">
              <a:spcAft>
                <a:spcPts val="300"/>
              </a:spcAft>
            </a:pPr>
            <a:r>
              <a:rPr sz="1150" b="0" i="0">
                <a:solidFill>
                  <a:srgbClr val="121A20"/>
                </a:solidFill>
                <a:latin typeface="Segoe UI"/>
              </a:rPr>
              <a:t>•  Target 1188, three interferers at +7.1, +9.2 and +5.4 dB</a:t>
            </a:r>
          </a:p>
          <a:p>
            <a:pPr algn="l">
              <a:spcAft>
                <a:spcPts val="300"/>
              </a:spcAft>
            </a:pPr>
            <a:r>
              <a:rPr sz="1150" b="0" i="0">
                <a:solidFill>
                  <a:srgbClr val="121A20"/>
                </a:solidFill>
                <a:latin typeface="Segoe UI"/>
              </a:rPr>
              <a:t>•  Mel improvement over Stage 1:  +29.6%</a:t>
            </a:r>
          </a:p>
          <a:p>
            <a:pPr algn="l">
              <a:spcAft>
                <a:spcPts val="300"/>
              </a:spcAft>
            </a:pPr>
            <a:r>
              <a:rPr sz="1150" b="0" i="0">
                <a:solidFill>
                  <a:srgbClr val="121A20"/>
                </a:solidFill>
                <a:latin typeface="Segoe UI"/>
              </a:rPr>
              <a:t>•  Speaker similarity:  mixture 0.36  →  extracted 0.66</a:t>
            </a:r>
          </a:p>
          <a:p>
            <a:pPr algn="l">
              <a:spcAft>
                <a:spcPts val="300"/>
              </a:spcAft>
            </a:pPr>
            <a:r>
              <a:rPr sz="1150" b="0" i="0">
                <a:solidFill>
                  <a:srgbClr val="121A20"/>
                </a:solidFill>
                <a:latin typeface="Segoe UI"/>
              </a:rPr>
              <a:t>•  Vocoded ceiling: 0.70</a:t>
            </a:r>
          </a:p>
        </p:txBody>
      </p:sp>
      <p:sp>
        <p:nvSpPr>
          <p:cNvPr id="15" name="Rounded Rectangle 14"/>
          <p:cNvSpPr/>
          <p:nvPr/>
        </p:nvSpPr>
        <p:spPr>
          <a:xfrm>
            <a:off x="3474720" y="3127248"/>
            <a:ext cx="2194560" cy="274320"/>
          </a:xfrm>
          <a:prstGeom prst="roundRect">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WORKS, BUT DEGRADING</a:t>
            </a:r>
          </a:p>
        </p:txBody>
      </p:sp>
      <p:sp>
        <p:nvSpPr>
          <p:cNvPr id="16" name="TextBox 15"/>
          <p:cNvSpPr txBox="1"/>
          <p:nvPr/>
        </p:nvSpPr>
        <p:spPr>
          <a:xfrm>
            <a:off x="411480" y="3611880"/>
            <a:ext cx="8321040" cy="1280160"/>
          </a:xfrm>
          <a:prstGeom prst="rect">
            <a:avLst/>
          </a:prstGeom>
          <a:noFill/>
        </p:spPr>
        <p:txBody>
          <a:bodyPr wrap="square" lIns="0" rIns="0" tIns="0" bIns="0">
            <a:spAutoFit/>
          </a:bodyPr>
          <a:lstStyle/>
          <a:p>
            <a:pPr algn="l">
              <a:spcAft>
                <a:spcPts val="0"/>
              </a:spcAft>
            </a:pPr>
            <a:r>
              <a:rPr sz="1200" b="0" i="0">
                <a:solidFill>
                  <a:srgbClr val="121A20"/>
                </a:solidFill>
                <a:latin typeface="Segoe UI"/>
              </a:rPr>
              <a:t>The best of our four-speaker samples: similarity climbs from 0.36 to 0.66 against a 0.70 ceiling. But the mel improvement has fallen to +29.6% from the +80% range seen at two speakers — the visible cost of asking a model trained on two voices to handle four.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video>
              <p:cMediaNode vol="80000">
                <p:cTn id="3" fill="hold" display="0">
                  <p:stCondLst>
                    <p:cond delay="indefinite"/>
                  </p:stCondLst>
                </p:cTn>
                <p:tgtEl>
                  <p:spTgt spid="9"/>
                </p:tgtEl>
              </p:cMediaNode>
            </p:video>
            <p:video>
              <p:cMediaNode vol="80000">
                <p:cTn id="4" fill="hold" display="0">
                  <p:stCondLst>
                    <p:cond delay="indefinite"/>
                  </p:stCondLst>
                </p:cTn>
                <p:tgtEl>
                  <p:spTgt spid="12"/>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Listening · Where it still fails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Sample: 4speakers/sample_01  ·  current checkpoint, trained SNR</a:t>
            </a:r>
          </a:p>
        </p:txBody>
      </p:sp>
      <p:sp>
        <p:nvSpPr>
          <p:cNvPr id="5" name="Rounded Rectangle 4"/>
          <p:cNvSpPr/>
          <p:nvPr/>
        </p:nvSpPr>
        <p:spPr>
          <a:xfrm>
            <a:off x="411480" y="1188720"/>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mixture.wav">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502920" y="1307592"/>
            <a:ext cx="384048" cy="384048"/>
          </a:xfrm>
          <a:prstGeom prst="rect">
            <a:avLst/>
          </a:prstGeom>
        </p:spPr>
      </p:pic>
      <p:sp>
        <p:nvSpPr>
          <p:cNvPr id="7" name="TextBox 6"/>
          <p:cNvSpPr txBox="1"/>
          <p:nvPr/>
        </p:nvSpPr>
        <p:spPr>
          <a:xfrm>
            <a:off x="978408" y="1243584"/>
            <a:ext cx="1874519" cy="548640"/>
          </a:xfrm>
          <a:prstGeom prst="rect">
            <a:avLst/>
          </a:prstGeom>
          <a:noFill/>
        </p:spPr>
        <p:txBody>
          <a:bodyPr wrap="square" lIns="0" rIns="0" tIns="0" bIns="0">
            <a:spAutoFit/>
          </a:bodyPr>
          <a:lstStyle/>
          <a:p>
            <a:pPr algn="l">
              <a:spcAft>
                <a:spcPts val="0"/>
              </a:spcAft>
            </a:pPr>
            <a:r>
              <a:rPr sz="1150" b="1" i="0">
                <a:solidFill>
                  <a:srgbClr val="657782"/>
                </a:solidFill>
                <a:latin typeface="Segoe UI"/>
              </a:rPr>
              <a:t>Mixture</a:t>
            </a:r>
          </a:p>
          <a:p>
            <a:pPr algn="l">
              <a:spcAft>
                <a:spcPts val="0"/>
              </a:spcAft>
            </a:pPr>
            <a:r>
              <a:rPr sz="900" b="0" i="0">
                <a:solidFill>
                  <a:srgbClr val="657782"/>
                </a:solidFill>
                <a:latin typeface="Segoe UI"/>
              </a:rPr>
              <a:t>all speakers together</a:t>
            </a:r>
          </a:p>
        </p:txBody>
      </p:sp>
      <p:sp>
        <p:nvSpPr>
          <p:cNvPr id="8" name="Rounded Rectangle 7"/>
          <p:cNvSpPr/>
          <p:nvPr/>
        </p:nvSpPr>
        <p:spPr>
          <a:xfrm>
            <a:off x="411480" y="1901952"/>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extracted.wav">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4"/>
          <a:stretch>
            <a:fillRect/>
          </a:stretch>
        </p:blipFill>
        <p:spPr>
          <a:xfrm>
            <a:off x="502920" y="2020824"/>
            <a:ext cx="384048" cy="384048"/>
          </a:xfrm>
          <a:prstGeom prst="rect">
            <a:avLst/>
          </a:prstGeom>
        </p:spPr>
      </p:pic>
      <p:sp>
        <p:nvSpPr>
          <p:cNvPr id="10" name="TextBox 9"/>
          <p:cNvSpPr txBox="1"/>
          <p:nvPr/>
        </p:nvSpPr>
        <p:spPr>
          <a:xfrm>
            <a:off x="978408" y="1956816"/>
            <a:ext cx="1874519" cy="548640"/>
          </a:xfrm>
          <a:prstGeom prst="rect">
            <a:avLst/>
          </a:prstGeom>
          <a:noFill/>
        </p:spPr>
        <p:txBody>
          <a:bodyPr wrap="square" lIns="0" rIns="0" tIns="0" bIns="0">
            <a:spAutoFit/>
          </a:bodyPr>
          <a:lstStyle/>
          <a:p>
            <a:pPr algn="l">
              <a:spcAft>
                <a:spcPts val="0"/>
              </a:spcAft>
            </a:pPr>
            <a:r>
              <a:rPr sz="1150" b="1" i="0">
                <a:solidFill>
                  <a:srgbClr val="0E6F6B"/>
                </a:solidFill>
                <a:latin typeface="Segoe UI"/>
              </a:rPr>
              <a:t>Extracted  ◀  our output</a:t>
            </a:r>
          </a:p>
          <a:p>
            <a:pPr algn="l">
              <a:spcAft>
                <a:spcPts val="0"/>
              </a:spcAft>
            </a:pPr>
            <a:r>
              <a:rPr sz="900" b="0" i="0">
                <a:solidFill>
                  <a:srgbClr val="657782"/>
                </a:solidFill>
                <a:latin typeface="Segoe UI"/>
              </a:rPr>
              <a:t>judge this one</a:t>
            </a:r>
          </a:p>
        </p:txBody>
      </p:sp>
      <p:sp>
        <p:nvSpPr>
          <p:cNvPr id="11" name="Rounded Rectangle 10"/>
          <p:cNvSpPr/>
          <p:nvPr/>
        </p:nvSpPr>
        <p:spPr>
          <a:xfrm>
            <a:off x="411480" y="2615184"/>
            <a:ext cx="2743200" cy="621792"/>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target_clean.wav">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4"/>
          <a:stretch>
            <a:fillRect/>
          </a:stretch>
        </p:blipFill>
        <p:spPr>
          <a:xfrm>
            <a:off x="502920" y="2734056"/>
            <a:ext cx="384048" cy="384048"/>
          </a:xfrm>
          <a:prstGeom prst="rect">
            <a:avLst/>
          </a:prstGeom>
        </p:spPr>
      </p:pic>
      <p:sp>
        <p:nvSpPr>
          <p:cNvPr id="13" name="TextBox 12"/>
          <p:cNvSpPr txBox="1"/>
          <p:nvPr/>
        </p:nvSpPr>
        <p:spPr>
          <a:xfrm>
            <a:off x="978408" y="2670048"/>
            <a:ext cx="1874519" cy="548640"/>
          </a:xfrm>
          <a:prstGeom prst="rect">
            <a:avLst/>
          </a:prstGeom>
          <a:noFill/>
        </p:spPr>
        <p:txBody>
          <a:bodyPr wrap="square" lIns="0" rIns="0" tIns="0" bIns="0">
            <a:spAutoFit/>
          </a:bodyPr>
          <a:lstStyle/>
          <a:p>
            <a:pPr algn="l">
              <a:spcAft>
                <a:spcPts val="0"/>
              </a:spcAft>
            </a:pPr>
            <a:r>
              <a:rPr sz="1150" b="1" i="0">
                <a:solidFill>
                  <a:srgbClr val="2C6E49"/>
                </a:solidFill>
                <a:latin typeface="Segoe UI"/>
              </a:rPr>
              <a:t>Clean target</a:t>
            </a:r>
          </a:p>
          <a:p>
            <a:pPr algn="l">
              <a:spcAft>
                <a:spcPts val="0"/>
              </a:spcAft>
            </a:pPr>
            <a:r>
              <a:rPr sz="900" b="0" i="0">
                <a:solidFill>
                  <a:srgbClr val="657782"/>
                </a:solidFill>
                <a:latin typeface="Segoe UI"/>
              </a:rPr>
              <a:t>ground-truth ceiling</a:t>
            </a:r>
          </a:p>
        </p:txBody>
      </p:sp>
      <p:sp>
        <p:nvSpPr>
          <p:cNvPr id="14" name="TextBox 13"/>
          <p:cNvSpPr txBox="1"/>
          <p:nvPr/>
        </p:nvSpPr>
        <p:spPr>
          <a:xfrm>
            <a:off x="3474720" y="1188720"/>
            <a:ext cx="5212080" cy="2194560"/>
          </a:xfrm>
          <a:prstGeom prst="rect">
            <a:avLst/>
          </a:prstGeom>
          <a:noFill/>
        </p:spPr>
        <p:txBody>
          <a:bodyPr wrap="square" lIns="0" rIns="0" tIns="0" bIns="0">
            <a:spAutoFit/>
          </a:bodyPr>
          <a:lstStyle/>
          <a:p>
            <a:pPr algn="l">
              <a:spcAft>
                <a:spcPts val="500"/>
              </a:spcAft>
            </a:pPr>
            <a:r>
              <a:rPr sz="1250" b="1" i="0">
                <a:solidFill>
                  <a:srgbClr val="121A20"/>
                </a:solidFill>
                <a:latin typeface="Segoe UI"/>
              </a:rPr>
              <a:t>What you are hearing</a:t>
            </a:r>
          </a:p>
          <a:p>
            <a:pPr algn="l">
              <a:spcAft>
                <a:spcPts val="300"/>
              </a:spcAft>
            </a:pPr>
            <a:r>
              <a:rPr sz="1150" b="0" i="0">
                <a:solidFill>
                  <a:srgbClr val="121A20"/>
                </a:solidFill>
                <a:latin typeface="Segoe UI"/>
              </a:rPr>
              <a:t>•  Target 1188, three interferers at +1.3, +2.5 and +9.7 dB</a:t>
            </a:r>
          </a:p>
          <a:p>
            <a:pPr algn="l">
              <a:spcAft>
                <a:spcPts val="300"/>
              </a:spcAft>
            </a:pPr>
            <a:r>
              <a:rPr sz="1150" b="0" i="0">
                <a:solidFill>
                  <a:srgbClr val="121A20"/>
                </a:solidFill>
                <a:latin typeface="Segoe UI"/>
              </a:rPr>
              <a:t>•  Mel change vs Stage 1:  −18.7%  (Stage 2 made it WORSE)</a:t>
            </a:r>
          </a:p>
          <a:p>
            <a:pPr algn="l">
              <a:spcAft>
                <a:spcPts val="300"/>
              </a:spcAft>
            </a:pPr>
            <a:r>
              <a:rPr sz="1150" b="0" i="0">
                <a:solidFill>
                  <a:srgbClr val="121A20"/>
                </a:solidFill>
                <a:latin typeface="Segoe UI"/>
              </a:rPr>
              <a:t>•  Speaker similarity:  mixture 0.12  →  extracted 0.24</a:t>
            </a:r>
          </a:p>
          <a:p>
            <a:pPr algn="l">
              <a:spcAft>
                <a:spcPts val="300"/>
              </a:spcAft>
            </a:pPr>
            <a:r>
              <a:rPr sz="1150" b="0" i="0">
                <a:solidFill>
                  <a:srgbClr val="121A20"/>
                </a:solidFill>
                <a:latin typeface="Segoe UI"/>
              </a:rPr>
              <a:t>•  Vocoded ceiling: 0.54</a:t>
            </a:r>
          </a:p>
        </p:txBody>
      </p:sp>
      <p:sp>
        <p:nvSpPr>
          <p:cNvPr id="15" name="Rounded Rectangle 14"/>
          <p:cNvSpPr/>
          <p:nvPr/>
        </p:nvSpPr>
        <p:spPr>
          <a:xfrm>
            <a:off x="3474720" y="3127248"/>
            <a:ext cx="2194560" cy="27432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FAILURE CASE — SHOWN DELIBERATELY</a:t>
            </a:r>
          </a:p>
        </p:txBody>
      </p:sp>
      <p:sp>
        <p:nvSpPr>
          <p:cNvPr id="16" name="TextBox 15"/>
          <p:cNvSpPr txBox="1"/>
          <p:nvPr/>
        </p:nvSpPr>
        <p:spPr>
          <a:xfrm>
            <a:off x="411480" y="3611880"/>
            <a:ext cx="8321040" cy="1280160"/>
          </a:xfrm>
          <a:prstGeom prst="rect">
            <a:avLst/>
          </a:prstGeom>
          <a:noFill/>
        </p:spPr>
        <p:txBody>
          <a:bodyPr wrap="square" lIns="0" rIns="0" tIns="0" bIns="0">
            <a:spAutoFit/>
          </a:bodyPr>
          <a:lstStyle/>
          <a:p>
            <a:pPr algn="l">
              <a:spcAft>
                <a:spcPts val="0"/>
              </a:spcAft>
            </a:pPr>
            <a:r>
              <a:rPr sz="1200" b="0" i="0">
                <a:solidFill>
                  <a:srgbClr val="121A20"/>
                </a:solidFill>
                <a:latin typeface="Segoe UI"/>
              </a:rPr>
              <a:t>Two of the three interferers sit within 2.5 dB of the target. Stage 2 degrades its own input here rather than improving it. We include this because a deck of only successful samples would misrepresent the system — this is what the 4-speaker catastrophic rate sounds like, and it is the condition both onset mitigations also failed 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video>
              <p:cMediaNode vol="80000">
                <p:cTn id="3" fill="hold" display="0">
                  <p:stCondLst>
                    <p:cond delay="indefinite"/>
                  </p:stCondLst>
                </p:cTn>
                <p:tgtEl>
                  <p:spTgt spid="9"/>
                </p:tgtEl>
              </p:cMediaNode>
            </p:video>
            <p:video>
              <p:cMediaNode vol="80000">
                <p:cTn id="4" fill="hold" display="0">
                  <p:stCondLst>
                    <p:cond delay="indefinite"/>
                  </p:stCondLst>
                </p:cTn>
                <p:tgtEl>
                  <p:spTgt spid="12"/>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Engineering: defects that would not have raised an error</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dangerous class — silent corruption, not crashes</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200"/>
              </a:spcAft>
            </a:pPr>
            <a:r>
              <a:rPr sz="1250" b="1" i="0">
                <a:solidFill>
                  <a:srgbClr val="9E3535"/>
                </a:solidFill>
                <a:latin typeface="Segoe UI"/>
              </a:rPr>
              <a:t>Padding dilution</a:t>
            </a:r>
          </a:p>
          <a:p>
            <a:pPr algn="l">
              <a:spcAft>
                <a:spcPts val="700"/>
              </a:spcAft>
            </a:pPr>
            <a:r>
              <a:rPr sz="1150" b="0" i="0">
                <a:solidFill>
                  <a:srgbClr val="121A20"/>
                </a:solidFill>
                <a:latin typeface="Segoe UI"/>
              </a:rPr>
              <a:t>Enrollment clips shorter than 3 s were zero-padded before mean-pooled embedding, diluting every speaker vector. Fixing it moved accuracy +0.6/+0.2/+0.3 pp — a MEASUREMENT correction that re-based every later comparison.</a:t>
            </a:r>
          </a:p>
          <a:p>
            <a:pPr algn="l">
              <a:spcAft>
                <a:spcPts val="200"/>
              </a:spcAft>
            </a:pPr>
            <a:r>
              <a:rPr sz="1250" b="1" i="0">
                <a:solidFill>
                  <a:srgbClr val="9E3535"/>
                </a:solidFill>
                <a:latin typeface="Segoe UI"/>
              </a:rPr>
              <a:t>Missing training data</a:t>
            </a:r>
          </a:p>
          <a:p>
            <a:pPr algn="l">
              <a:spcAft>
                <a:spcPts val="700"/>
              </a:spcAft>
            </a:pPr>
            <a:r>
              <a:rPr sz="1150" b="0" i="0">
                <a:solidFill>
                  <a:srgbClr val="121A20"/>
                </a:solidFill>
                <a:latin typeface="Segoe UI"/>
              </a:rPr>
              <a:t>The config listed three LibriSpeech splits; only one was ever on disk. Every checkpoint trained on ~100 h instead of ~960 h, with no error anywhere.</a:t>
            </a:r>
          </a:p>
          <a:p>
            <a:pPr algn="l">
              <a:spcAft>
                <a:spcPts val="200"/>
              </a:spcAft>
            </a:pPr>
            <a:r>
              <a:rPr sz="1250" b="1" i="0">
                <a:solidFill>
                  <a:srgbClr val="9E3535"/>
                </a:solidFill>
                <a:latin typeface="Segoe UI"/>
              </a:rPr>
              <a:t>Partial extraction</a:t>
            </a:r>
          </a:p>
          <a:p>
            <a:pPr algn="l">
              <a:spcAft>
                <a:spcPts val="700"/>
              </a:spcAft>
            </a:pPr>
            <a:r>
              <a:rPr sz="1150" b="0" i="0">
                <a:solidFill>
                  <a:srgbClr val="121A20"/>
                </a:solidFill>
                <a:latin typeface="Segoe UI"/>
              </a:rPr>
              <a:t>An interrupted extraction left 83,232 of 104,014 files — 80% complete. Because tar extracts by path, the missing fifth was WHOLE SPEAKER DIRECTORIES.</a:t>
            </a:r>
          </a:p>
          <a:p>
            <a:pPr algn="l">
              <a:spcAft>
                <a:spcPts val="200"/>
              </a:spcAft>
            </a:pPr>
            <a:r>
              <a:rPr sz="1250" b="1" i="0">
                <a:solidFill>
                  <a:srgbClr val="9E3535"/>
                </a:solidFill>
                <a:latin typeface="Segoe UI"/>
              </a:rPr>
              <a:t>RIR contamination</a:t>
            </a:r>
          </a:p>
          <a:p>
            <a:pPr algn="l">
              <a:spcAft>
                <a:spcPts val="700"/>
              </a:spcAft>
            </a:pPr>
            <a:r>
              <a:rPr sz="1150" b="0" i="0">
                <a:solidFill>
                  <a:srgbClr val="121A20"/>
                </a:solidFill>
                <a:latin typeface="Segoe UI"/>
              </a:rPr>
              <a:t>The reverb corpus ships 843 noise recordings beside the impulse responses; a recursive glob would have convolved speech with noise as if it were reverb.</a:t>
            </a:r>
          </a:p>
          <a:p>
            <a:pPr algn="l">
              <a:spcAft>
                <a:spcPts val="0"/>
              </a:spcAft>
            </a:pPr>
            <a:r>
              <a:rPr sz="1200" b="1" i="0">
                <a:solidFill>
                  <a:srgbClr val="0E6F6B"/>
                </a:solidFill>
                <a:latin typeface="Segoe UI"/>
              </a:rPr>
              <a:t>Each of these produced plausible-looking results rather than a failure. That is why the project now verifies completeness by COUNT, never by existence.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The recurring methodological trap</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Learned three separate times</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p:txBody>
      </p:sp>
      <p:sp>
        <p:nvSpPr>
          <p:cNvPr id="6" name="Rounded Rectangle 5"/>
          <p:cNvSpPr/>
          <p:nvPr/>
        </p:nvSpPr>
        <p:spPr>
          <a:xfrm>
            <a:off x="411480" y="1143000"/>
            <a:ext cx="8321040" cy="77724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80160"/>
            <a:ext cx="7955280" cy="640080"/>
          </a:xfrm>
          <a:prstGeom prst="rect">
            <a:avLst/>
          </a:prstGeom>
          <a:noFill/>
        </p:spPr>
        <p:txBody>
          <a:bodyPr wrap="square" lIns="0" rIns="0" tIns="0" bIns="0">
            <a:spAutoFit/>
          </a:bodyPr>
          <a:lstStyle/>
          <a:p>
            <a:pPr algn="ctr">
              <a:spcAft>
                <a:spcPts val="0"/>
              </a:spcAft>
            </a:pPr>
            <a:r>
              <a:rPr sz="1500" b="1" i="0">
                <a:solidFill>
                  <a:srgbClr val="0E6F6B"/>
                </a:solidFill>
                <a:latin typeface="Segoe UI"/>
              </a:rPr>
              <a:t>A change that improves every metric you happen to be looking at has NOT been shown to be free.</a:t>
            </a:r>
          </a:p>
        </p:txBody>
      </p:sp>
      <p:sp>
        <p:nvSpPr>
          <p:cNvPr id="8" name="TextBox 7"/>
          <p:cNvSpPr txBox="1"/>
          <p:nvPr/>
        </p:nvSpPr>
        <p:spPr>
          <a:xfrm>
            <a:off x="411480" y="2103120"/>
            <a:ext cx="8321040" cy="2743200"/>
          </a:xfrm>
          <a:prstGeom prst="rect">
            <a:avLst/>
          </a:prstGeom>
          <a:noFill/>
        </p:spPr>
        <p:txBody>
          <a:bodyPr wrap="square" lIns="0" rIns="0" tIns="0" bIns="0">
            <a:spAutoFit/>
          </a:bodyPr>
          <a:lstStyle/>
          <a:p>
            <a:pPr algn="l">
              <a:spcAft>
                <a:spcPts val="200"/>
              </a:spcAft>
            </a:pPr>
            <a:r>
              <a:rPr sz="1250" b="1" i="0">
                <a:solidFill>
                  <a:srgbClr val="121A20"/>
                </a:solidFill>
                <a:latin typeface="Segoe UI"/>
              </a:rPr>
              <a:t>1 · mel vs SI-SDR</a:t>
            </a:r>
          </a:p>
          <a:p>
            <a:pPr algn="l">
              <a:spcAft>
                <a:spcPts val="800"/>
              </a:spcAft>
            </a:pPr>
            <a:r>
              <a:rPr sz="1150" b="0" i="0">
                <a:solidFill>
                  <a:srgbClr val="121A20"/>
                </a:solidFill>
                <a:latin typeface="Segoe UI"/>
              </a:rPr>
              <a:t>At low SNR the two metrics disagreed in DIRECTION — mel said mildly positive, SI-SDR said severely negative. A deletion-only mask forced to remove most of the spectrum takes target energy with it.</a:t>
            </a:r>
          </a:p>
          <a:p>
            <a:pPr algn="l">
              <a:spcAft>
                <a:spcPts val="200"/>
              </a:spcAft>
            </a:pPr>
            <a:r>
              <a:rPr sz="1250" b="1" i="0">
                <a:solidFill>
                  <a:srgbClr val="121A20"/>
                </a:solidFill>
                <a:latin typeface="Segoe UI"/>
              </a:rPr>
              <a:t>2 · log-gain Stage 1</a:t>
            </a:r>
          </a:p>
          <a:p>
            <a:pPr algn="l">
              <a:spcAft>
                <a:spcPts val="800"/>
              </a:spcAft>
            </a:pPr>
            <a:r>
              <a:rPr sz="1150" b="0" i="0">
                <a:solidFill>
                  <a:srgbClr val="121A20"/>
                </a:solidFill>
                <a:latin typeface="Segoe UI"/>
              </a:rPr>
              <a:t>A 2.6× more accurate Stage 1 produced a WORSE pipeline, because Stage 2 had never been trained against that input family.</a:t>
            </a:r>
          </a:p>
          <a:p>
            <a:pPr algn="l">
              <a:spcAft>
                <a:spcPts val="200"/>
              </a:spcAft>
            </a:pPr>
            <a:r>
              <a:rPr sz="1250" b="1" i="0">
                <a:solidFill>
                  <a:srgbClr val="121A20"/>
                </a:solidFill>
                <a:latin typeface="Segoe UI"/>
              </a:rPr>
              <a:t>3 · CFG warm-up</a:t>
            </a:r>
          </a:p>
          <a:p>
            <a:pPr algn="l">
              <a:spcAft>
                <a:spcPts val="800"/>
              </a:spcAft>
            </a:pPr>
            <a:r>
              <a:rPr sz="1150" b="0" i="0">
                <a:solidFill>
                  <a:srgbClr val="121A20"/>
                </a:solidFill>
                <a:latin typeface="Segoe UI"/>
              </a:rPr>
              <a:t>Improved mel and SI-SDR with nothing worse — because the diagnostic that surfaced it never measured accuracy, the one axis that carried the cost.</a:t>
            </a:r>
          </a:p>
          <a:p>
            <a:pPr algn="l">
              <a:spcAft>
                <a:spcPts val="0"/>
              </a:spcAft>
            </a:pPr>
            <a:r>
              <a:rPr sz="1200" b="0" i="1">
                <a:solidFill>
                  <a:srgbClr val="0E6F6B"/>
                </a:solidFill>
                <a:latin typeface="Segoe UI"/>
              </a:rPr>
              <a:t>The habit that came out of it: ask which axis the current diagnostic CANNOT see, and measure that one before believing the result.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Infrastructure reality</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A material fraction of elapsed time went to cluster faults</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200"/>
              </a:spcAft>
            </a:pPr>
            <a:r>
              <a:rPr sz="1250" b="1" i="0">
                <a:solidFill>
                  <a:srgbClr val="B07818"/>
                </a:solidFill>
                <a:latin typeface="Segoe UI"/>
              </a:rPr>
              <a:t>SLURM auth daemon died mid-job</a:t>
            </a:r>
          </a:p>
          <a:p>
            <a:pPr algn="l">
              <a:spcAft>
                <a:spcPts val="700"/>
              </a:spcAft>
            </a:pPr>
            <a:r>
              <a:rPr sz="1150" b="0" i="0">
                <a:solidFill>
                  <a:srgbClr val="121A20"/>
                </a:solidFill>
                <a:latin typeface="Segoe UI"/>
              </a:rPr>
              <a:t>The munge socket vanished during extraction, killing the job. Cluster-level; job scripts were made idempotent in response.</a:t>
            </a:r>
          </a:p>
          <a:p>
            <a:pPr algn="l">
              <a:spcAft>
                <a:spcPts val="200"/>
              </a:spcAft>
            </a:pPr>
            <a:r>
              <a:rPr sz="1250" b="1" i="0">
                <a:solidFill>
                  <a:srgbClr val="B07818"/>
                </a:solidFill>
                <a:latin typeface="Segoe UI"/>
              </a:rPr>
              <a:t>GPU occupied by a foreign process</a:t>
            </a:r>
          </a:p>
          <a:p>
            <a:pPr algn="l">
              <a:spcAft>
                <a:spcPts val="700"/>
              </a:spcAft>
            </a:pPr>
            <a:r>
              <a:rPr sz="1150" b="0" i="0">
                <a:solidFill>
                  <a:srgbClr val="121A20"/>
                </a:solidFill>
                <a:latin typeface="Segoe UI"/>
              </a:rPr>
              <a:t>14,994 MiB of a 16,384 MiB P100 held by another process. Per-sample time degraded 5.5 s → 76.8 s — a 14× slowdown. A 5-minute stage took 347 minutes. Visible only because our launcher prints nvidia-smi at job start.</a:t>
            </a:r>
          </a:p>
          <a:p>
            <a:pPr algn="l">
              <a:spcAft>
                <a:spcPts val="200"/>
              </a:spcAft>
            </a:pPr>
            <a:r>
              <a:rPr sz="1250" b="1" i="0">
                <a:solidFill>
                  <a:srgbClr val="B07818"/>
                </a:solidFill>
                <a:latin typeface="Segoe UI"/>
              </a:rPr>
              <a:t>Filesystem full</a:t>
            </a:r>
          </a:p>
          <a:p>
            <a:pPr algn="l">
              <a:spcAft>
                <a:spcPts val="700"/>
              </a:spcAft>
            </a:pPr>
            <a:r>
              <a:rPr sz="1150" b="0" i="0">
                <a:solidFill>
                  <a:srgbClr val="121A20"/>
                </a:solidFill>
                <a:latin typeface="Segoe UI"/>
              </a:rPr>
              <a:t>A 15.5-hour training run died at step 21,874 with ENOSPC. The shared volume swung 161 GB → 38 GB overnight through other users' activity.</a:t>
            </a:r>
          </a:p>
          <a:p>
            <a:pPr algn="l">
              <a:spcAft>
                <a:spcPts val="200"/>
              </a:spcAft>
            </a:pPr>
            <a:r>
              <a:rPr sz="1250" b="1" i="0">
                <a:solidFill>
                  <a:srgbClr val="B07818"/>
                </a:solidFill>
                <a:latin typeface="Segoe UI"/>
              </a:rPr>
              <a:t>NFS write failures</a:t>
            </a:r>
          </a:p>
          <a:p>
            <a:pPr algn="l">
              <a:spcAft>
                <a:spcPts val="700"/>
              </a:spcAft>
            </a:pPr>
            <a:r>
              <a:rPr sz="1150" b="0" i="0">
                <a:solidFill>
                  <a:srgbClr val="121A20"/>
                </a:solidFill>
                <a:latin typeface="Segoe UI"/>
              </a:rPr>
              <a:t>Extraction of a checksum-verified archive failed twice with I/O errors at 450 GB+ free — a storage fault, not capacity. Still unresolved.</a:t>
            </a:r>
          </a:p>
          <a:p>
            <a:pPr algn="l">
              <a:spcAft>
                <a:spcPts val="0"/>
              </a:spcAft>
            </a:pPr>
            <a:r>
              <a:rPr sz="1200" b="1" i="0">
                <a:solidFill>
                  <a:srgbClr val="0E6F6B"/>
                </a:solidFill>
                <a:latin typeface="Segoe UI"/>
              </a:rPr>
              <a:t>Two practices came out of this: print environment diagnostics before doing work, and make every long job idempotent.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Data expansion</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Prerequisite for Phase Two</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900"/>
              </a:spcAft>
            </a:pPr>
            <a:r>
              <a:rPr sz="1250" b="0" i="0">
                <a:solidFill>
                  <a:srgbClr val="121A20"/>
                </a:solidFill>
                <a:latin typeface="Segoe UI"/>
              </a:rPr>
              <a:t>The ceiling analysis says the remaining extraction headroom is in Stage 1. The obvious lever is more data — and we discovered we had far less than the config claimed.</a:t>
            </a:r>
          </a:p>
        </p:txBody>
      </p:sp>
      <p:sp>
        <p:nvSpPr>
          <p:cNvPr id="6" name="TextBox 5"/>
          <p:cNvSpPr txBox="1"/>
          <p:nvPr/>
        </p:nvSpPr>
        <p:spPr>
          <a:xfrm>
            <a:off x="411480" y="1965960"/>
            <a:ext cx="292608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
            </a:r>
          </a:p>
        </p:txBody>
      </p:sp>
      <p:sp>
        <p:nvSpPr>
          <p:cNvPr id="7" name="TextBox 6"/>
          <p:cNvSpPr txBox="1"/>
          <p:nvPr/>
        </p:nvSpPr>
        <p:spPr>
          <a:xfrm>
            <a:off x="3337560" y="1965960"/>
            <a:ext cx="237744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Before</a:t>
            </a:r>
          </a:p>
        </p:txBody>
      </p:sp>
      <p:sp>
        <p:nvSpPr>
          <p:cNvPr id="8" name="TextBox 7"/>
          <p:cNvSpPr txBox="1"/>
          <p:nvPr/>
        </p:nvSpPr>
        <p:spPr>
          <a:xfrm>
            <a:off x="5715000" y="1965960"/>
            <a:ext cx="2377440" cy="274320"/>
          </a:xfrm>
          <a:prstGeom prst="rect">
            <a:avLst/>
          </a:prstGeom>
          <a:noFill/>
        </p:spPr>
        <p:txBody>
          <a:bodyPr wrap="square" lIns="0" rIns="0" tIns="0" bIns="0">
            <a:spAutoFit/>
          </a:bodyPr>
          <a:lstStyle/>
          <a:p>
            <a:pPr algn="l">
              <a:spcAft>
                <a:spcPts val="0"/>
              </a:spcAft>
            </a:pPr>
            <a:r>
              <a:rPr sz="1050" b="1" i="0">
                <a:solidFill>
                  <a:srgbClr val="657782"/>
                </a:solidFill>
                <a:latin typeface="Segoe UI"/>
              </a:rPr>
              <a:t>Now</a:t>
            </a:r>
          </a:p>
        </p:txBody>
      </p:sp>
      <p:sp>
        <p:nvSpPr>
          <p:cNvPr id="9" name="TextBox 8"/>
          <p:cNvSpPr txBox="1"/>
          <p:nvPr/>
        </p:nvSpPr>
        <p:spPr>
          <a:xfrm>
            <a:off x="411480" y="2258568"/>
            <a:ext cx="292608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Training hours</a:t>
            </a:r>
          </a:p>
        </p:txBody>
      </p:sp>
      <p:sp>
        <p:nvSpPr>
          <p:cNvPr id="10" name="TextBox 9"/>
          <p:cNvSpPr txBox="1"/>
          <p:nvPr/>
        </p:nvSpPr>
        <p:spPr>
          <a:xfrm>
            <a:off x="3337560" y="2258568"/>
            <a:ext cx="237744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~100 h</a:t>
            </a:r>
          </a:p>
        </p:txBody>
      </p:sp>
      <p:sp>
        <p:nvSpPr>
          <p:cNvPr id="11" name="TextBox 10"/>
          <p:cNvSpPr txBox="1"/>
          <p:nvPr/>
        </p:nvSpPr>
        <p:spPr>
          <a:xfrm>
            <a:off x="5715000" y="2258568"/>
            <a:ext cx="2377440" cy="274320"/>
          </a:xfrm>
          <a:prstGeom prst="rect">
            <a:avLst/>
          </a:prstGeom>
          <a:noFill/>
        </p:spPr>
        <p:txBody>
          <a:bodyPr wrap="square" lIns="0" rIns="0" tIns="0" bIns="0">
            <a:spAutoFit/>
          </a:bodyPr>
          <a:lstStyle/>
          <a:p>
            <a:pPr algn="l">
              <a:spcAft>
                <a:spcPts val="0"/>
              </a:spcAft>
            </a:pPr>
            <a:r>
              <a:rPr sz="1250" b="1" i="0">
                <a:solidFill>
                  <a:srgbClr val="0E6F6B"/>
                </a:solidFill>
                <a:latin typeface="Segoe UI"/>
              </a:rPr>
              <a:t>~600 h</a:t>
            </a:r>
          </a:p>
        </p:txBody>
      </p:sp>
      <p:sp>
        <p:nvSpPr>
          <p:cNvPr id="12" name="TextBox 11"/>
          <p:cNvSpPr txBox="1"/>
          <p:nvPr/>
        </p:nvSpPr>
        <p:spPr>
          <a:xfrm>
            <a:off x="411480" y="2587752"/>
            <a:ext cx="292608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Training speakers</a:t>
            </a:r>
          </a:p>
        </p:txBody>
      </p:sp>
      <p:sp>
        <p:nvSpPr>
          <p:cNvPr id="13" name="TextBox 12"/>
          <p:cNvSpPr txBox="1"/>
          <p:nvPr/>
        </p:nvSpPr>
        <p:spPr>
          <a:xfrm>
            <a:off x="3337560" y="2587752"/>
            <a:ext cx="237744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251</a:t>
            </a:r>
          </a:p>
        </p:txBody>
      </p:sp>
      <p:sp>
        <p:nvSpPr>
          <p:cNvPr id="14" name="TextBox 13"/>
          <p:cNvSpPr txBox="1"/>
          <p:nvPr/>
        </p:nvSpPr>
        <p:spPr>
          <a:xfrm>
            <a:off x="5715000" y="2587752"/>
            <a:ext cx="2377440" cy="274320"/>
          </a:xfrm>
          <a:prstGeom prst="rect">
            <a:avLst/>
          </a:prstGeom>
          <a:noFill/>
        </p:spPr>
        <p:txBody>
          <a:bodyPr wrap="square" lIns="0" rIns="0" tIns="0" bIns="0">
            <a:spAutoFit/>
          </a:bodyPr>
          <a:lstStyle/>
          <a:p>
            <a:pPr algn="l">
              <a:spcAft>
                <a:spcPts val="0"/>
              </a:spcAft>
            </a:pPr>
            <a:r>
              <a:rPr sz="1250" b="1" i="0">
                <a:solidFill>
                  <a:srgbClr val="0E6F6B"/>
                </a:solidFill>
                <a:latin typeface="Segoe UI"/>
              </a:rPr>
              <a:t>~1,417</a:t>
            </a:r>
          </a:p>
        </p:txBody>
      </p:sp>
      <p:sp>
        <p:nvSpPr>
          <p:cNvPr id="15" name="TextBox 14"/>
          <p:cNvSpPr txBox="1"/>
          <p:nvPr/>
        </p:nvSpPr>
        <p:spPr>
          <a:xfrm>
            <a:off x="411480" y="2916936"/>
            <a:ext cx="292608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Splits on disk</a:t>
            </a:r>
          </a:p>
        </p:txBody>
      </p:sp>
      <p:sp>
        <p:nvSpPr>
          <p:cNvPr id="16" name="TextBox 15"/>
          <p:cNvSpPr txBox="1"/>
          <p:nvPr/>
        </p:nvSpPr>
        <p:spPr>
          <a:xfrm>
            <a:off x="3337560" y="2916936"/>
            <a:ext cx="2377440" cy="274320"/>
          </a:xfrm>
          <a:prstGeom prst="rect">
            <a:avLst/>
          </a:prstGeom>
          <a:noFill/>
        </p:spPr>
        <p:txBody>
          <a:bodyPr wrap="square" lIns="0" rIns="0" tIns="0" bIns="0">
            <a:spAutoFit/>
          </a:bodyPr>
          <a:lstStyle/>
          <a:p>
            <a:pPr algn="l">
              <a:spcAft>
                <a:spcPts val="0"/>
              </a:spcAft>
            </a:pPr>
            <a:r>
              <a:rPr sz="1250" b="0" i="0">
                <a:solidFill>
                  <a:srgbClr val="121A20"/>
                </a:solidFill>
                <a:latin typeface="Segoe UI"/>
              </a:rPr>
              <a:t>train-clean-100</a:t>
            </a:r>
          </a:p>
        </p:txBody>
      </p:sp>
      <p:sp>
        <p:nvSpPr>
          <p:cNvPr id="17" name="TextBox 16"/>
          <p:cNvSpPr txBox="1"/>
          <p:nvPr/>
        </p:nvSpPr>
        <p:spPr>
          <a:xfrm>
            <a:off x="5715000" y="2916936"/>
            <a:ext cx="2377440" cy="274320"/>
          </a:xfrm>
          <a:prstGeom prst="rect">
            <a:avLst/>
          </a:prstGeom>
          <a:noFill/>
        </p:spPr>
        <p:txBody>
          <a:bodyPr wrap="square" lIns="0" rIns="0" tIns="0" bIns="0">
            <a:spAutoFit/>
          </a:bodyPr>
          <a:lstStyle/>
          <a:p>
            <a:pPr algn="l">
              <a:spcAft>
                <a:spcPts val="0"/>
              </a:spcAft>
            </a:pPr>
            <a:r>
              <a:rPr sz="1250" b="1" i="0">
                <a:solidFill>
                  <a:srgbClr val="0E6F6B"/>
                </a:solidFill>
                <a:latin typeface="Segoe UI"/>
              </a:rPr>
              <a:t>+ train-other-500</a:t>
            </a:r>
          </a:p>
        </p:txBody>
      </p:sp>
      <p:sp>
        <p:nvSpPr>
          <p:cNvPr id="18" name="TextBox 17"/>
          <p:cNvSpPr txBox="1"/>
          <p:nvPr/>
        </p:nvSpPr>
        <p:spPr>
          <a:xfrm>
            <a:off x="411480" y="3383280"/>
            <a:ext cx="8321040" cy="1463040"/>
          </a:xfrm>
          <a:prstGeom prst="rect">
            <a:avLst/>
          </a:prstGeom>
          <a:noFill/>
        </p:spPr>
        <p:txBody>
          <a:bodyPr wrap="square" lIns="0" rIns="0" tIns="0" bIns="0">
            <a:spAutoFit/>
          </a:bodyPr>
          <a:lstStyle/>
          <a:p>
            <a:pPr algn="l">
              <a:spcAft>
                <a:spcPts val="600"/>
              </a:spcAft>
            </a:pPr>
            <a:r>
              <a:rPr sz="1250" b="1" i="0">
                <a:solidFill>
                  <a:srgbClr val="121A20"/>
                </a:solidFill>
                <a:latin typeface="Segoe UI"/>
              </a:rPr>
              <a:t>For a speaker-conditioned task the 5.6× increase in SPEAKER COUNT is arguably more relevant than the hours — the model had only ever seen 251 identities.</a:t>
            </a:r>
          </a:p>
          <a:p>
            <a:pPr algn="l">
              <a:spcAft>
                <a:spcPts val="0"/>
              </a:spcAft>
            </a:pPr>
            <a:r>
              <a:rPr sz="1200" b="0" i="0">
                <a:solidFill>
                  <a:srgbClr val="657782"/>
                </a:solidFill>
                <a:latin typeface="Segoe UI"/>
              </a:rPr>
              <a:t>train-clean-360 is downloaded and checksum-verified but BLOCKED: extraction fails with NFS I/O errors at 450 GB+ free. It would add 360 h on top of 600 h — a smaller increment than the first expansion, so it is not a blocker.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Phase Two</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Following the ceiling analysis, not intuition</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p:txBody>
      </p:sp>
      <p:sp>
        <p:nvSpPr>
          <p:cNvPr id="6" name="Rounded Rectangle 5"/>
          <p:cNvSpPr/>
          <p:nvPr/>
        </p:nvSpPr>
        <p:spPr>
          <a:xfrm>
            <a:off x="411480" y="1170432"/>
            <a:ext cx="8321040" cy="64008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 y="1325880"/>
            <a:ext cx="320040" cy="365760"/>
          </a:xfrm>
          <a:prstGeom prst="rect">
            <a:avLst/>
          </a:prstGeom>
          <a:noFill/>
        </p:spPr>
        <p:txBody>
          <a:bodyPr wrap="square" lIns="0" rIns="0" tIns="0" bIns="0">
            <a:spAutoFit/>
          </a:bodyPr>
          <a:lstStyle/>
          <a:p>
            <a:pPr algn="l">
              <a:spcAft>
                <a:spcPts val="0"/>
              </a:spcAft>
            </a:pPr>
            <a:r>
              <a:rPr sz="1600" b="1" i="0">
                <a:solidFill>
                  <a:srgbClr val="2C6E49"/>
                </a:solidFill>
                <a:latin typeface="Segoe UI"/>
              </a:rPr>
              <a:t>1</a:t>
            </a:r>
          </a:p>
        </p:txBody>
      </p:sp>
      <p:sp>
        <p:nvSpPr>
          <p:cNvPr id="8" name="TextBox 7"/>
          <p:cNvSpPr txBox="1"/>
          <p:nvPr/>
        </p:nvSpPr>
        <p:spPr>
          <a:xfrm>
            <a:off x="914400" y="1225296"/>
            <a:ext cx="2651760" cy="274320"/>
          </a:xfrm>
          <a:prstGeom prst="rect">
            <a:avLst/>
          </a:prstGeom>
          <a:noFill/>
        </p:spPr>
        <p:txBody>
          <a:bodyPr wrap="square" lIns="0" rIns="0" tIns="0" bIns="0">
            <a:spAutoFit/>
          </a:bodyPr>
          <a:lstStyle/>
          <a:p>
            <a:pPr algn="l">
              <a:spcAft>
                <a:spcPts val="0"/>
              </a:spcAft>
            </a:pPr>
            <a:r>
              <a:rPr sz="1250" b="1" i="0">
                <a:solidFill>
                  <a:srgbClr val="121A20"/>
                </a:solidFill>
                <a:latin typeface="Segoe UI"/>
              </a:rPr>
              <a:t>Stage 1 retrain on ~600 h</a:t>
            </a:r>
          </a:p>
        </p:txBody>
      </p:sp>
      <p:sp>
        <p:nvSpPr>
          <p:cNvPr id="9" name="TextBox 8"/>
          <p:cNvSpPr txBox="1"/>
          <p:nvPr/>
        </p:nvSpPr>
        <p:spPr>
          <a:xfrm>
            <a:off x="914400" y="1472184"/>
            <a:ext cx="5760720" cy="274320"/>
          </a:xfrm>
          <a:prstGeom prst="rect">
            <a:avLst/>
          </a:prstGeom>
          <a:noFill/>
        </p:spPr>
        <p:txBody>
          <a:bodyPr wrap="square" lIns="0" rIns="0" tIns="0" bIns="0">
            <a:spAutoFit/>
          </a:bodyPr>
          <a:lstStyle/>
          <a:p>
            <a:pPr algn="l">
              <a:spcAft>
                <a:spcPts val="0"/>
              </a:spcAft>
            </a:pPr>
            <a:r>
              <a:rPr sz="1050" b="0" i="0">
                <a:solidFill>
                  <a:srgbClr val="657782"/>
                </a:solidFill>
                <a:latin typeface="Segoe UI"/>
              </a:rPr>
              <a:t>All remaining extraction headroom (~4.3 pp) is here</a:t>
            </a:r>
          </a:p>
        </p:txBody>
      </p:sp>
      <p:sp>
        <p:nvSpPr>
          <p:cNvPr id="10" name="TextBox 9"/>
          <p:cNvSpPr txBox="1"/>
          <p:nvPr/>
        </p:nvSpPr>
        <p:spPr>
          <a:xfrm>
            <a:off x="7863840" y="1353312"/>
            <a:ext cx="822960" cy="274320"/>
          </a:xfrm>
          <a:prstGeom prst="rect">
            <a:avLst/>
          </a:prstGeom>
          <a:noFill/>
        </p:spPr>
        <p:txBody>
          <a:bodyPr wrap="square" lIns="0" rIns="0" tIns="0" bIns="0">
            <a:spAutoFit/>
          </a:bodyPr>
          <a:lstStyle/>
          <a:p>
            <a:pPr algn="r">
              <a:spcAft>
                <a:spcPts val="0"/>
              </a:spcAft>
            </a:pPr>
            <a:r>
              <a:rPr sz="1100" b="1" i="0">
                <a:solidFill>
                  <a:srgbClr val="2C6E49"/>
                </a:solidFill>
                <a:latin typeface="Segoe UI"/>
              </a:rPr>
              <a:t>~47 h</a:t>
            </a:r>
          </a:p>
        </p:txBody>
      </p:sp>
      <p:sp>
        <p:nvSpPr>
          <p:cNvPr id="11" name="Rounded Rectangle 10"/>
          <p:cNvSpPr/>
          <p:nvPr/>
        </p:nvSpPr>
        <p:spPr>
          <a:xfrm>
            <a:off x="411480" y="1883664"/>
            <a:ext cx="8321040" cy="64008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2039112"/>
            <a:ext cx="320040" cy="365760"/>
          </a:xfrm>
          <a:prstGeom prst="rect">
            <a:avLst/>
          </a:prstGeom>
          <a:noFill/>
        </p:spPr>
        <p:txBody>
          <a:bodyPr wrap="square" lIns="0" rIns="0" tIns="0" bIns="0">
            <a:spAutoFit/>
          </a:bodyPr>
          <a:lstStyle/>
          <a:p>
            <a:pPr algn="l">
              <a:spcAft>
                <a:spcPts val="0"/>
              </a:spcAft>
            </a:pPr>
            <a:r>
              <a:rPr sz="1600" b="1" i="0">
                <a:solidFill>
                  <a:srgbClr val="2C6E49"/>
                </a:solidFill>
                <a:latin typeface="Segoe UI"/>
              </a:rPr>
              <a:t>2</a:t>
            </a:r>
          </a:p>
        </p:txBody>
      </p:sp>
      <p:sp>
        <p:nvSpPr>
          <p:cNvPr id="13" name="TextBox 12"/>
          <p:cNvSpPr txBox="1"/>
          <p:nvPr/>
        </p:nvSpPr>
        <p:spPr>
          <a:xfrm>
            <a:off x="914400" y="1938528"/>
            <a:ext cx="2651760" cy="274320"/>
          </a:xfrm>
          <a:prstGeom prst="rect">
            <a:avLst/>
          </a:prstGeom>
          <a:noFill/>
        </p:spPr>
        <p:txBody>
          <a:bodyPr wrap="square" lIns="0" rIns="0" tIns="0" bIns="0">
            <a:spAutoFit/>
          </a:bodyPr>
          <a:lstStyle/>
          <a:p>
            <a:pPr algn="l">
              <a:spcAft>
                <a:spcPts val="0"/>
              </a:spcAft>
            </a:pPr>
            <a:r>
              <a:rPr sz="1250" b="1" i="0">
                <a:solidFill>
                  <a:srgbClr val="121A20"/>
                </a:solidFill>
                <a:latin typeface="Segoe UI"/>
              </a:rPr>
              <a:t>Stage 2 adaptation</a:t>
            </a:r>
          </a:p>
        </p:txBody>
      </p:sp>
      <p:sp>
        <p:nvSpPr>
          <p:cNvPr id="14" name="TextBox 13"/>
          <p:cNvSpPr txBox="1"/>
          <p:nvPr/>
        </p:nvSpPr>
        <p:spPr>
          <a:xfrm>
            <a:off x="914400" y="2185416"/>
            <a:ext cx="5760720" cy="274320"/>
          </a:xfrm>
          <a:prstGeom prst="rect">
            <a:avLst/>
          </a:prstGeom>
          <a:noFill/>
        </p:spPr>
        <p:txBody>
          <a:bodyPr wrap="square" lIns="0" rIns="0" tIns="0" bIns="0">
            <a:spAutoFit/>
          </a:bodyPr>
          <a:lstStyle/>
          <a:p>
            <a:pPr algn="l">
              <a:spcAft>
                <a:spcPts val="0"/>
              </a:spcAft>
            </a:pPr>
            <a:r>
              <a:rPr sz="1050" b="0" i="0">
                <a:solidFill>
                  <a:srgbClr val="657782"/>
                </a:solidFill>
                <a:latin typeface="Segoe UI"/>
              </a:rPr>
              <a:t>MANDATORY — log-gain proved a better Stage 1 alone makes it worse</a:t>
            </a:r>
          </a:p>
        </p:txBody>
      </p:sp>
      <p:sp>
        <p:nvSpPr>
          <p:cNvPr id="15" name="TextBox 14"/>
          <p:cNvSpPr txBox="1"/>
          <p:nvPr/>
        </p:nvSpPr>
        <p:spPr>
          <a:xfrm>
            <a:off x="7863840" y="2066544"/>
            <a:ext cx="822960" cy="274320"/>
          </a:xfrm>
          <a:prstGeom prst="rect">
            <a:avLst/>
          </a:prstGeom>
          <a:noFill/>
        </p:spPr>
        <p:txBody>
          <a:bodyPr wrap="square" lIns="0" rIns="0" tIns="0" bIns="0">
            <a:spAutoFit/>
          </a:bodyPr>
          <a:lstStyle/>
          <a:p>
            <a:pPr algn="r">
              <a:spcAft>
                <a:spcPts val="0"/>
              </a:spcAft>
            </a:pPr>
            <a:r>
              <a:rPr sz="1100" b="1" i="0">
                <a:solidFill>
                  <a:srgbClr val="2C6E49"/>
                </a:solidFill>
                <a:latin typeface="Segoe UI"/>
              </a:rPr>
              <a:t>~13 h</a:t>
            </a:r>
          </a:p>
        </p:txBody>
      </p:sp>
      <p:sp>
        <p:nvSpPr>
          <p:cNvPr id="16" name="Rounded Rectangle 15"/>
          <p:cNvSpPr/>
          <p:nvPr/>
        </p:nvSpPr>
        <p:spPr>
          <a:xfrm>
            <a:off x="411480" y="2596896"/>
            <a:ext cx="8321040" cy="64008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2752344"/>
            <a:ext cx="320040" cy="365760"/>
          </a:xfrm>
          <a:prstGeom prst="rect">
            <a:avLst/>
          </a:prstGeom>
          <a:noFill/>
        </p:spPr>
        <p:txBody>
          <a:bodyPr wrap="square" lIns="0" rIns="0" tIns="0" bIns="0">
            <a:spAutoFit/>
          </a:bodyPr>
          <a:lstStyle/>
          <a:p>
            <a:pPr algn="l">
              <a:spcAft>
                <a:spcPts val="0"/>
              </a:spcAft>
            </a:pPr>
            <a:r>
              <a:rPr sz="1600" b="1" i="0">
                <a:solidFill>
                  <a:srgbClr val="0E6F6B"/>
                </a:solidFill>
                <a:latin typeface="Segoe UI"/>
              </a:rPr>
              <a:t>3</a:t>
            </a:r>
          </a:p>
        </p:txBody>
      </p:sp>
      <p:sp>
        <p:nvSpPr>
          <p:cNvPr id="18" name="TextBox 17"/>
          <p:cNvSpPr txBox="1"/>
          <p:nvPr/>
        </p:nvSpPr>
        <p:spPr>
          <a:xfrm>
            <a:off x="914400" y="2651760"/>
            <a:ext cx="2651760" cy="274320"/>
          </a:xfrm>
          <a:prstGeom prst="rect">
            <a:avLst/>
          </a:prstGeom>
          <a:noFill/>
        </p:spPr>
        <p:txBody>
          <a:bodyPr wrap="square" lIns="0" rIns="0" tIns="0" bIns="0">
            <a:spAutoFit/>
          </a:bodyPr>
          <a:lstStyle/>
          <a:p>
            <a:pPr algn="l">
              <a:spcAft>
                <a:spcPts val="0"/>
              </a:spcAft>
            </a:pPr>
            <a:r>
              <a:rPr sz="1250" b="1" i="0">
                <a:solidFill>
                  <a:srgbClr val="121A20"/>
                </a:solidFill>
                <a:latin typeface="Segoe UI"/>
              </a:rPr>
              <a:t>Measurement chain</a:t>
            </a:r>
          </a:p>
        </p:txBody>
      </p:sp>
      <p:sp>
        <p:nvSpPr>
          <p:cNvPr id="19" name="TextBox 18"/>
          <p:cNvSpPr txBox="1"/>
          <p:nvPr/>
        </p:nvSpPr>
        <p:spPr>
          <a:xfrm>
            <a:off x="914400" y="2898648"/>
            <a:ext cx="5760720" cy="274320"/>
          </a:xfrm>
          <a:prstGeom prst="rect">
            <a:avLst/>
          </a:prstGeom>
          <a:noFill/>
        </p:spPr>
        <p:txBody>
          <a:bodyPr wrap="square" lIns="0" rIns="0" tIns="0" bIns="0">
            <a:spAutoFit/>
          </a:bodyPr>
          <a:lstStyle/>
          <a:p>
            <a:pPr algn="l">
              <a:spcAft>
                <a:spcPts val="0"/>
              </a:spcAft>
            </a:pPr>
            <a:r>
              <a:rPr sz="1050" b="0" i="0">
                <a:solidFill>
                  <a:srgbClr val="657782"/>
                </a:solidFill>
                <a:latin typeface="Segoe UI"/>
              </a:rPr>
              <a:t>The larger pool at ~9.7 pp: vocoder + speaker encoder</a:t>
            </a:r>
          </a:p>
        </p:txBody>
      </p:sp>
      <p:sp>
        <p:nvSpPr>
          <p:cNvPr id="20" name="TextBox 19"/>
          <p:cNvSpPr txBox="1"/>
          <p:nvPr/>
        </p:nvSpPr>
        <p:spPr>
          <a:xfrm>
            <a:off x="7863840" y="2779776"/>
            <a:ext cx="822960" cy="274320"/>
          </a:xfrm>
          <a:prstGeom prst="rect">
            <a:avLst/>
          </a:prstGeom>
          <a:noFill/>
        </p:spPr>
        <p:txBody>
          <a:bodyPr wrap="square" lIns="0" rIns="0" tIns="0" bIns="0">
            <a:spAutoFit/>
          </a:bodyPr>
          <a:lstStyle/>
          <a:p>
            <a:pPr algn="r">
              <a:spcAft>
                <a:spcPts val="0"/>
              </a:spcAft>
            </a:pPr>
            <a:r>
              <a:rPr sz="1100" b="1" i="0">
                <a:solidFill>
                  <a:srgbClr val="0E6F6B"/>
                </a:solidFill>
                <a:latin typeface="Segoe UI"/>
              </a:rPr>
              <a:t>1–2 d</a:t>
            </a:r>
          </a:p>
        </p:txBody>
      </p:sp>
      <p:sp>
        <p:nvSpPr>
          <p:cNvPr id="21" name="Rounded Rectangle 20"/>
          <p:cNvSpPr/>
          <p:nvPr/>
        </p:nvSpPr>
        <p:spPr>
          <a:xfrm>
            <a:off x="411480" y="3310128"/>
            <a:ext cx="8321040" cy="64008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3465576"/>
            <a:ext cx="320040" cy="365760"/>
          </a:xfrm>
          <a:prstGeom prst="rect">
            <a:avLst/>
          </a:prstGeom>
          <a:noFill/>
        </p:spPr>
        <p:txBody>
          <a:bodyPr wrap="square" lIns="0" rIns="0" tIns="0" bIns="0">
            <a:spAutoFit/>
          </a:bodyPr>
          <a:lstStyle/>
          <a:p>
            <a:pPr algn="l">
              <a:spcAft>
                <a:spcPts val="0"/>
              </a:spcAft>
            </a:pPr>
            <a:r>
              <a:rPr sz="1600" b="1" i="0">
                <a:solidFill>
                  <a:srgbClr val="0E6F6B"/>
                </a:solidFill>
                <a:latin typeface="Segoe UI"/>
              </a:rPr>
              <a:t>4</a:t>
            </a:r>
          </a:p>
        </p:txBody>
      </p:sp>
      <p:sp>
        <p:nvSpPr>
          <p:cNvPr id="23" name="TextBox 22"/>
          <p:cNvSpPr txBox="1"/>
          <p:nvPr/>
        </p:nvSpPr>
        <p:spPr>
          <a:xfrm>
            <a:off x="914400" y="3364992"/>
            <a:ext cx="2651760" cy="274320"/>
          </a:xfrm>
          <a:prstGeom prst="rect">
            <a:avLst/>
          </a:prstGeom>
          <a:noFill/>
        </p:spPr>
        <p:txBody>
          <a:bodyPr wrap="square" lIns="0" rIns="0" tIns="0" bIns="0">
            <a:spAutoFit/>
          </a:bodyPr>
          <a:lstStyle/>
          <a:p>
            <a:pPr algn="l">
              <a:spcAft>
                <a:spcPts val="0"/>
              </a:spcAft>
            </a:pPr>
            <a:r>
              <a:rPr sz="1250" b="1" i="0">
                <a:solidFill>
                  <a:srgbClr val="121A20"/>
                </a:solidFill>
                <a:latin typeface="Segoe UI"/>
              </a:rPr>
              <a:t>Multi-utterance enrollment</a:t>
            </a:r>
          </a:p>
        </p:txBody>
      </p:sp>
      <p:sp>
        <p:nvSpPr>
          <p:cNvPr id="24" name="TextBox 23"/>
          <p:cNvSpPr txBox="1"/>
          <p:nvPr/>
        </p:nvSpPr>
        <p:spPr>
          <a:xfrm>
            <a:off x="914400" y="3611880"/>
            <a:ext cx="5760720" cy="274320"/>
          </a:xfrm>
          <a:prstGeom prst="rect">
            <a:avLst/>
          </a:prstGeom>
          <a:noFill/>
        </p:spPr>
        <p:txBody>
          <a:bodyPr wrap="square" lIns="0" rIns="0" tIns="0" bIns="0">
            <a:spAutoFit/>
          </a:bodyPr>
          <a:lstStyle/>
          <a:p>
            <a:pPr algn="l">
              <a:spcAft>
                <a:spcPts val="0"/>
              </a:spcAft>
            </a:pPr>
            <a:r>
              <a:rPr sz="1050" b="0" i="0">
                <a:solidFill>
                  <a:srgbClr val="657782"/>
                </a:solidFill>
                <a:latin typeface="Segoe UI"/>
              </a:rPr>
              <a:t>We rejected a longer window on ONE clip; pooling several is untested</a:t>
            </a:r>
          </a:p>
        </p:txBody>
      </p:sp>
      <p:sp>
        <p:nvSpPr>
          <p:cNvPr id="25" name="TextBox 24"/>
          <p:cNvSpPr txBox="1"/>
          <p:nvPr/>
        </p:nvSpPr>
        <p:spPr>
          <a:xfrm>
            <a:off x="7863840" y="3493008"/>
            <a:ext cx="822960" cy="274320"/>
          </a:xfrm>
          <a:prstGeom prst="rect">
            <a:avLst/>
          </a:prstGeom>
          <a:noFill/>
        </p:spPr>
        <p:txBody>
          <a:bodyPr wrap="square" lIns="0" rIns="0" tIns="0" bIns="0">
            <a:spAutoFit/>
          </a:bodyPr>
          <a:lstStyle/>
          <a:p>
            <a:pPr algn="r">
              <a:spcAft>
                <a:spcPts val="0"/>
              </a:spcAft>
            </a:pPr>
            <a:r>
              <a:rPr sz="1100" b="1" i="0">
                <a:solidFill>
                  <a:srgbClr val="0E6F6B"/>
                </a:solidFill>
                <a:latin typeface="Segoe UI"/>
              </a:rPr>
              <a:t>hours</a:t>
            </a:r>
          </a:p>
        </p:txBody>
      </p:sp>
      <p:sp>
        <p:nvSpPr>
          <p:cNvPr id="26" name="Rounded Rectangle 25"/>
          <p:cNvSpPr/>
          <p:nvPr/>
        </p:nvSpPr>
        <p:spPr>
          <a:xfrm>
            <a:off x="411480" y="4023360"/>
            <a:ext cx="8321040" cy="640080"/>
          </a:xfrm>
          <a:prstGeom prst="roundRect">
            <a:avLst/>
          </a:prstGeom>
          <a:solidFill>
            <a:srgbClr val="EEF2F4"/>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 y="4178808"/>
            <a:ext cx="320040" cy="365760"/>
          </a:xfrm>
          <a:prstGeom prst="rect">
            <a:avLst/>
          </a:prstGeom>
          <a:noFill/>
        </p:spPr>
        <p:txBody>
          <a:bodyPr wrap="square" lIns="0" rIns="0" tIns="0" bIns="0">
            <a:spAutoFit/>
          </a:bodyPr>
          <a:lstStyle/>
          <a:p>
            <a:pPr algn="l">
              <a:spcAft>
                <a:spcPts val="0"/>
              </a:spcAft>
            </a:pPr>
            <a:r>
              <a:rPr sz="1600" b="1" i="0">
                <a:solidFill>
                  <a:srgbClr val="B07818"/>
                </a:solidFill>
                <a:latin typeface="Segoe UI"/>
              </a:rPr>
              <a:t>5</a:t>
            </a:r>
          </a:p>
        </p:txBody>
      </p:sp>
      <p:sp>
        <p:nvSpPr>
          <p:cNvPr id="28" name="TextBox 27"/>
          <p:cNvSpPr txBox="1"/>
          <p:nvPr/>
        </p:nvSpPr>
        <p:spPr>
          <a:xfrm>
            <a:off x="914400" y="4078224"/>
            <a:ext cx="2651760" cy="274320"/>
          </a:xfrm>
          <a:prstGeom prst="rect">
            <a:avLst/>
          </a:prstGeom>
          <a:noFill/>
        </p:spPr>
        <p:txBody>
          <a:bodyPr wrap="square" lIns="0" rIns="0" tIns="0" bIns="0">
            <a:spAutoFit/>
          </a:bodyPr>
          <a:lstStyle/>
          <a:p>
            <a:pPr algn="l">
              <a:spcAft>
                <a:spcPts val="0"/>
              </a:spcAft>
            </a:pPr>
            <a:r>
              <a:rPr sz="1250" b="1" i="0">
                <a:solidFill>
                  <a:srgbClr val="121A20"/>
                </a:solidFill>
                <a:latin typeface="Segoe UI"/>
              </a:rPr>
              <a:t>Onset gate</a:t>
            </a:r>
          </a:p>
        </p:txBody>
      </p:sp>
      <p:sp>
        <p:nvSpPr>
          <p:cNvPr id="29" name="TextBox 28"/>
          <p:cNvSpPr txBox="1"/>
          <p:nvPr/>
        </p:nvSpPr>
        <p:spPr>
          <a:xfrm>
            <a:off x="914400" y="4325112"/>
            <a:ext cx="5760720" cy="274320"/>
          </a:xfrm>
          <a:prstGeom prst="rect">
            <a:avLst/>
          </a:prstGeom>
          <a:noFill/>
        </p:spPr>
        <p:txBody>
          <a:bodyPr wrap="square" lIns="0" rIns="0" tIns="0" bIns="0">
            <a:spAutoFit/>
          </a:bodyPr>
          <a:lstStyle/>
          <a:p>
            <a:pPr algn="l">
              <a:spcAft>
                <a:spcPts val="0"/>
              </a:spcAft>
            </a:pPr>
            <a:r>
              <a:rPr sz="1050" b="0" i="0">
                <a:solidFill>
                  <a:srgbClr val="657782"/>
                </a:solidFill>
                <a:latin typeface="Segoe UI"/>
              </a:rPr>
              <a:t>Co-adapt both stages, or weight the loss toward failing frames</a:t>
            </a:r>
          </a:p>
        </p:txBody>
      </p:sp>
      <p:sp>
        <p:nvSpPr>
          <p:cNvPr id="30" name="TextBox 29"/>
          <p:cNvSpPr txBox="1"/>
          <p:nvPr/>
        </p:nvSpPr>
        <p:spPr>
          <a:xfrm>
            <a:off x="7863840" y="4206240"/>
            <a:ext cx="822960" cy="274320"/>
          </a:xfrm>
          <a:prstGeom prst="rect">
            <a:avLst/>
          </a:prstGeom>
          <a:noFill/>
        </p:spPr>
        <p:txBody>
          <a:bodyPr wrap="square" lIns="0" rIns="0" tIns="0" bIns="0">
            <a:spAutoFit/>
          </a:bodyPr>
          <a:lstStyle/>
          <a:p>
            <a:pPr algn="r">
              <a:spcAft>
                <a:spcPts val="0"/>
              </a:spcAft>
            </a:pPr>
            <a:r>
              <a:rPr sz="1100" b="1" i="0">
                <a:solidFill>
                  <a:srgbClr val="B07818"/>
                </a:solidFill>
                <a:latin typeface="Segoe UI"/>
              </a:rPr>
              <a:t>4–13 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What Phase One establishes</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The position we are starting Phase Two from</a:t>
            </a:r>
          </a:p>
        </p:txBody>
      </p:sp>
      <p:sp>
        <p:nvSpPr>
          <p:cNvPr id="5" name="TextBox 4"/>
          <p:cNvSpPr txBox="1"/>
          <p:nvPr/>
        </p:nvSpPr>
        <p:spPr>
          <a:xfrm>
            <a:off x="411480" y="1024128"/>
            <a:ext cx="8321040" cy="3845052"/>
          </a:xfrm>
          <a:prstGeom prst="rect">
            <a:avLst/>
          </a:prstGeom>
          <a:noFill/>
        </p:spPr>
        <p:txBody>
          <a:bodyPr wrap="square" lIns="0" rIns="0" tIns="0" bIns="0">
            <a:spAutoFit/>
          </a:bodyPr>
          <a:lstStyle/>
          <a:p>
            <a:pPr algn="l">
              <a:spcAft>
                <a:spcPts val="300"/>
              </a:spcAft>
            </a:pPr>
            <a:r>
              <a:rPr sz="1300" b="1" i="0">
                <a:solidFill>
                  <a:srgbClr val="0E6F6B"/>
                </a:solidFill>
                <a:latin typeface="Segoe UI"/>
              </a:rPr>
              <a:t>A working, validated system</a:t>
            </a:r>
          </a:p>
          <a:p>
            <a:pPr algn="l">
              <a:spcAft>
                <a:spcPts val="900"/>
              </a:spcAft>
            </a:pPr>
            <a:r>
              <a:rPr sz="1200" b="0" i="0">
                <a:solidFill>
                  <a:srgbClr val="121A20"/>
                </a:solidFill>
                <a:latin typeface="Segoe UI"/>
              </a:rPr>
              <a:t>86.2% corpus-wide accuracy against a 71.0% do-nothing baseline and a 90.8% ceiling, holding up on a corpus we did not build.</a:t>
            </a:r>
          </a:p>
          <a:p>
            <a:pPr algn="l">
              <a:spcAft>
                <a:spcPts val="300"/>
              </a:spcAft>
            </a:pPr>
            <a:r>
              <a:rPr sz="1300" b="1" i="0">
                <a:solidFill>
                  <a:srgbClr val="0E6F6B"/>
                </a:solidFill>
                <a:latin typeface="Segoe UI"/>
              </a:rPr>
              <a:t>A quantified ceiling</a:t>
            </a:r>
          </a:p>
          <a:p>
            <a:pPr algn="l">
              <a:spcAft>
                <a:spcPts val="900"/>
              </a:spcAft>
            </a:pPr>
            <a:r>
              <a:rPr sz="1200" b="0" i="0">
                <a:solidFill>
                  <a:srgbClr val="121A20"/>
                </a:solidFill>
                <a:latin typeface="Segoe UI"/>
              </a:rPr>
              <a:t>We know where effort will and will not pay: ~4.3 pp in Stage 1, ~9.7 pp in the measurement chain, nothing at the operating point.</a:t>
            </a:r>
          </a:p>
          <a:p>
            <a:pPr algn="l">
              <a:spcAft>
                <a:spcPts val="300"/>
              </a:spcAft>
            </a:pPr>
            <a:r>
              <a:rPr sz="1300" b="1" i="0">
                <a:solidFill>
                  <a:srgbClr val="0E6F6B"/>
                </a:solidFill>
                <a:latin typeface="Segoe UI"/>
              </a:rPr>
              <a:t>Four characterized limitations</a:t>
            </a:r>
          </a:p>
          <a:p>
            <a:pPr algn="l">
              <a:spcAft>
                <a:spcPts val="900"/>
              </a:spcAft>
            </a:pPr>
            <a:r>
              <a:rPr sz="1200" b="0" i="0">
                <a:solidFill>
                  <a:srgbClr val="121A20"/>
                </a:solidFill>
                <a:latin typeface="Segoe UI"/>
              </a:rPr>
              <a:t>Each with an established root cause — two mitigated, one closed, one open and explained.</a:t>
            </a:r>
          </a:p>
          <a:p>
            <a:pPr algn="l">
              <a:spcAft>
                <a:spcPts val="300"/>
              </a:spcAft>
            </a:pPr>
            <a:r>
              <a:rPr sz="1300" b="1" i="0">
                <a:solidFill>
                  <a:srgbClr val="0E6F6B"/>
                </a:solidFill>
                <a:latin typeface="Segoe UI"/>
              </a:rPr>
              <a:t>A decision discipline that works</a:t>
            </a:r>
          </a:p>
          <a:p>
            <a:pPr algn="l">
              <a:spcAft>
                <a:spcPts val="900"/>
              </a:spcAft>
            </a:pPr>
            <a:r>
              <a:rPr sz="1200" b="0" i="0">
                <a:solidFill>
                  <a:srgbClr val="121A20"/>
                </a:solidFill>
                <a:latin typeface="Segoe UI"/>
              </a:rPr>
              <a:t>Pre-registered bars caught five changes that looked like improvements and were not. Eleven of fifteen candidates were rejected.</a:t>
            </a:r>
          </a:p>
          <a:p>
            <a:pPr algn="l">
              <a:spcAft>
                <a:spcPts val="0"/>
              </a:spcAft>
            </a:pPr>
            <a:r>
              <a:rPr sz="1250" b="0" i="1">
                <a:solidFill>
                  <a:srgbClr val="121A20"/>
                </a:solidFill>
                <a:latin typeface="Segoe UI"/>
              </a:rPr>
              <a:t>The rejections are the more useful half of this report. A system whose failures are understood is in a better position than one whose successes are unexplained.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321040" cy="457200"/>
          </a:xfrm>
          <a:prstGeom prst="rect">
            <a:avLst/>
          </a:prstGeom>
          <a:noFill/>
        </p:spPr>
        <p:txBody>
          <a:bodyPr wrap="square" lIns="0" rIns="0" tIns="0" bIns="0">
            <a:spAutoFit/>
          </a:bodyPr>
          <a:lstStyle/>
          <a:p>
            <a:pPr algn="l">
              <a:spcAft>
                <a:spcPts val="0"/>
              </a:spcAft>
            </a:pPr>
            <a:r>
              <a:rPr sz="2200" b="1" i="0">
                <a:solidFill>
                  <a:srgbClr val="121A20"/>
                </a:solidFill>
                <a:latin typeface="Segoe UI"/>
              </a:rPr>
              <a:t>Every change we evaluated</a:t>
            </a:r>
          </a:p>
        </p:txBody>
      </p:sp>
      <p:sp>
        <p:nvSpPr>
          <p:cNvPr id="3" name="Rectangle 2"/>
          <p:cNvSpPr/>
          <p:nvPr/>
        </p:nvSpPr>
        <p:spPr>
          <a:xfrm>
            <a:off x="411480" y="731520"/>
            <a:ext cx="8321040" cy="27940"/>
          </a:xfrm>
          <a:prstGeom prst="rect">
            <a:avLst/>
          </a:prstGeom>
          <a:solidFill>
            <a:srgbClr val="0E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86384"/>
            <a:ext cx="8321040" cy="256032"/>
          </a:xfrm>
          <a:prstGeom prst="rect">
            <a:avLst/>
          </a:prstGeom>
          <a:noFill/>
        </p:spPr>
        <p:txBody>
          <a:bodyPr wrap="square" lIns="0" rIns="0" tIns="0" bIns="0">
            <a:spAutoFit/>
          </a:bodyPr>
          <a:lstStyle/>
          <a:p>
            <a:pPr algn="l">
              <a:spcAft>
                <a:spcPts val="0"/>
              </a:spcAft>
            </a:pPr>
            <a:r>
              <a:rPr sz="1100" b="0" i="1">
                <a:solidFill>
                  <a:srgbClr val="657782"/>
                </a:solidFill>
                <a:latin typeface="Segoe UI"/>
              </a:rPr>
              <a:t>4 promoted · 11 rejected</a:t>
            </a:r>
          </a:p>
        </p:txBody>
      </p:sp>
      <p:sp>
        <p:nvSpPr>
          <p:cNvPr id="5" name="TextBox 4"/>
          <p:cNvSpPr txBox="1"/>
          <p:nvPr/>
        </p:nvSpPr>
        <p:spPr>
          <a:xfrm>
            <a:off x="411480" y="1051560"/>
            <a:ext cx="8321040" cy="274320"/>
          </a:xfrm>
          <a:prstGeom prst="rect">
            <a:avLst/>
          </a:prstGeom>
          <a:noFill/>
        </p:spPr>
        <p:txBody>
          <a:bodyPr wrap="square" lIns="0" rIns="0" tIns="0" bIns="0">
            <a:spAutoFit/>
          </a:bodyPr>
          <a:lstStyle/>
          <a:p>
            <a:pPr algn="l">
              <a:spcAft>
                <a:spcPts val="0"/>
              </a:spcAft>
            </a:pPr>
            <a:r>
              <a:rPr sz="1100" b="0" i="0">
                <a:solidFill>
                  <a:srgbClr val="657782"/>
                </a:solidFill>
                <a:latin typeface="Segoe UI"/>
              </a:rPr>
              <a:t>Ordered as run. Colour indicates the verdict.</a:t>
            </a:r>
          </a:p>
        </p:txBody>
      </p:sp>
      <p:sp>
        <p:nvSpPr>
          <p:cNvPr id="6" name="TextBox 5"/>
          <p:cNvSpPr txBox="1"/>
          <p:nvPr/>
        </p:nvSpPr>
        <p:spPr>
          <a:xfrm>
            <a:off x="411480" y="1417320"/>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Safety-net fallback</a:t>
            </a:r>
          </a:p>
        </p:txBody>
      </p:sp>
      <p:sp>
        <p:nvSpPr>
          <p:cNvPr id="7" name="Rounded Rectangle 6"/>
          <p:cNvSpPr/>
          <p:nvPr/>
        </p:nvSpPr>
        <p:spPr>
          <a:xfrm>
            <a:off x="3200400" y="1399032"/>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8" name="TextBox 7"/>
          <p:cNvSpPr txBox="1"/>
          <p:nvPr/>
        </p:nvSpPr>
        <p:spPr>
          <a:xfrm>
            <a:off x="411480" y="1801368"/>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hard-t0 fine-tune</a:t>
            </a:r>
          </a:p>
        </p:txBody>
      </p:sp>
      <p:sp>
        <p:nvSpPr>
          <p:cNvPr id="9" name="Rounded Rectangle 8"/>
          <p:cNvSpPr/>
          <p:nvPr/>
        </p:nvSpPr>
        <p:spPr>
          <a:xfrm>
            <a:off x="3200400" y="1783080"/>
            <a:ext cx="1051560" cy="228600"/>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10" name="TextBox 9"/>
          <p:cNvSpPr txBox="1"/>
          <p:nvPr/>
        </p:nvSpPr>
        <p:spPr>
          <a:xfrm>
            <a:off x="411480" y="2185416"/>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hard-multispeaker FT</a:t>
            </a:r>
          </a:p>
        </p:txBody>
      </p:sp>
      <p:sp>
        <p:nvSpPr>
          <p:cNvPr id="11" name="Rounded Rectangle 10"/>
          <p:cNvSpPr/>
          <p:nvPr/>
        </p:nvSpPr>
        <p:spPr>
          <a:xfrm>
            <a:off x="3200400" y="2167128"/>
            <a:ext cx="1051560" cy="228600"/>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12" name="TextBox 11"/>
          <p:cNvSpPr txBox="1"/>
          <p:nvPr/>
        </p:nvSpPr>
        <p:spPr>
          <a:xfrm>
            <a:off x="411480" y="2569464"/>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50% low-SNR curriculum</a:t>
            </a:r>
          </a:p>
        </p:txBody>
      </p:sp>
      <p:sp>
        <p:nvSpPr>
          <p:cNvPr id="13" name="Rounded Rectangle 12"/>
          <p:cNvSpPr/>
          <p:nvPr/>
        </p:nvSpPr>
        <p:spPr>
          <a:xfrm>
            <a:off x="3200400" y="2551176"/>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14" name="TextBox 13"/>
          <p:cNvSpPr txBox="1"/>
          <p:nvPr/>
        </p:nvSpPr>
        <p:spPr>
          <a:xfrm>
            <a:off x="411480" y="2953512"/>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25% low-SNR curriculum</a:t>
            </a:r>
          </a:p>
        </p:txBody>
      </p:sp>
      <p:sp>
        <p:nvSpPr>
          <p:cNvPr id="15" name="Rounded Rectangle 14"/>
          <p:cNvSpPr/>
          <p:nvPr/>
        </p:nvSpPr>
        <p:spPr>
          <a:xfrm>
            <a:off x="3200400" y="2935224"/>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16" name="TextBox 15"/>
          <p:cNvSpPr txBox="1"/>
          <p:nvPr/>
        </p:nvSpPr>
        <p:spPr>
          <a:xfrm>
            <a:off x="411480" y="3337560"/>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log-gain S1, frozen S2</a:t>
            </a:r>
          </a:p>
        </p:txBody>
      </p:sp>
      <p:sp>
        <p:nvSpPr>
          <p:cNvPr id="17" name="Rounded Rectangle 16"/>
          <p:cNvSpPr/>
          <p:nvPr/>
        </p:nvSpPr>
        <p:spPr>
          <a:xfrm>
            <a:off x="3200400" y="3319272"/>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18" name="TextBox 17"/>
          <p:cNvSpPr txBox="1"/>
          <p:nvPr/>
        </p:nvSpPr>
        <p:spPr>
          <a:xfrm>
            <a:off x="411480" y="3721608"/>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Stage 1 low-SNR FT</a:t>
            </a:r>
          </a:p>
        </p:txBody>
      </p:sp>
      <p:sp>
        <p:nvSpPr>
          <p:cNvPr id="19" name="Rounded Rectangle 18"/>
          <p:cNvSpPr/>
          <p:nvPr/>
        </p:nvSpPr>
        <p:spPr>
          <a:xfrm>
            <a:off x="3200400" y="3703320"/>
            <a:ext cx="1051560" cy="228600"/>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PROMOTED</a:t>
            </a:r>
          </a:p>
        </p:txBody>
      </p:sp>
      <p:sp>
        <p:nvSpPr>
          <p:cNvPr id="20" name="TextBox 19"/>
          <p:cNvSpPr txBox="1"/>
          <p:nvPr/>
        </p:nvSpPr>
        <p:spPr>
          <a:xfrm>
            <a:off x="411480" y="4105656"/>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Stage 2 adaptation</a:t>
            </a:r>
          </a:p>
        </p:txBody>
      </p:sp>
      <p:sp>
        <p:nvSpPr>
          <p:cNvPr id="21" name="Rounded Rectangle 20"/>
          <p:cNvSpPr/>
          <p:nvPr/>
        </p:nvSpPr>
        <p:spPr>
          <a:xfrm>
            <a:off x="3200400" y="4087368"/>
            <a:ext cx="1051560" cy="228600"/>
          </a:xfrm>
          <a:prstGeom prst="roundRect">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OVERRIDE</a:t>
            </a:r>
          </a:p>
        </p:txBody>
      </p:sp>
      <p:sp>
        <p:nvSpPr>
          <p:cNvPr id="22" name="TextBox 21"/>
          <p:cNvSpPr txBox="1"/>
          <p:nvPr/>
        </p:nvSpPr>
        <p:spPr>
          <a:xfrm>
            <a:off x="4709160" y="1417320"/>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cfg 1.5 → 2.5</a:t>
            </a:r>
          </a:p>
        </p:txBody>
      </p:sp>
      <p:sp>
        <p:nvSpPr>
          <p:cNvPr id="23" name="Rounded Rectangle 22"/>
          <p:cNvSpPr/>
          <p:nvPr/>
        </p:nvSpPr>
        <p:spPr>
          <a:xfrm>
            <a:off x="7498080" y="1399032"/>
            <a:ext cx="1051560" cy="228600"/>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ADOPTED</a:t>
            </a:r>
          </a:p>
        </p:txBody>
      </p:sp>
      <p:sp>
        <p:nvSpPr>
          <p:cNvPr id="24" name="TextBox 23"/>
          <p:cNvSpPr txBox="1"/>
          <p:nvPr/>
        </p:nvSpPr>
        <p:spPr>
          <a:xfrm>
            <a:off x="4709160" y="1801368"/>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log-gain pair</a:t>
            </a:r>
          </a:p>
        </p:txBody>
      </p:sp>
      <p:sp>
        <p:nvSpPr>
          <p:cNvPr id="25" name="Rounded Rectangle 24"/>
          <p:cNvSpPr/>
          <p:nvPr/>
        </p:nvSpPr>
        <p:spPr>
          <a:xfrm>
            <a:off x="7498080" y="1783080"/>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26" name="TextBox 25"/>
          <p:cNvSpPr txBox="1"/>
          <p:nvPr/>
        </p:nvSpPr>
        <p:spPr>
          <a:xfrm>
            <a:off x="4709160" y="2185416"/>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onset fine-tune</a:t>
            </a:r>
          </a:p>
        </p:txBody>
      </p:sp>
      <p:sp>
        <p:nvSpPr>
          <p:cNvPr id="27" name="Rounded Rectangle 26"/>
          <p:cNvSpPr/>
          <p:nvPr/>
        </p:nvSpPr>
        <p:spPr>
          <a:xfrm>
            <a:off x="7498080" y="2167128"/>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28" name="TextBox 27"/>
          <p:cNvSpPr txBox="1"/>
          <p:nvPr/>
        </p:nvSpPr>
        <p:spPr>
          <a:xfrm>
            <a:off x="4709160" y="2569464"/>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onset padding/splice</a:t>
            </a:r>
          </a:p>
        </p:txBody>
      </p:sp>
      <p:sp>
        <p:nvSpPr>
          <p:cNvPr id="29" name="Rounded Rectangle 28"/>
          <p:cNvSpPr/>
          <p:nvPr/>
        </p:nvSpPr>
        <p:spPr>
          <a:xfrm>
            <a:off x="7498080" y="2551176"/>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30" name="TextBox 29"/>
          <p:cNvSpPr txBox="1"/>
          <p:nvPr/>
        </p:nvSpPr>
        <p:spPr>
          <a:xfrm>
            <a:off x="4709160" y="2953512"/>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CFG warm-up</a:t>
            </a:r>
          </a:p>
        </p:txBody>
      </p:sp>
      <p:sp>
        <p:nvSpPr>
          <p:cNvPr id="31" name="Rounded Rectangle 30"/>
          <p:cNvSpPr/>
          <p:nvPr/>
        </p:nvSpPr>
        <p:spPr>
          <a:xfrm>
            <a:off x="7498080" y="2935224"/>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32" name="TextBox 31"/>
          <p:cNvSpPr txBox="1"/>
          <p:nvPr/>
        </p:nvSpPr>
        <p:spPr>
          <a:xfrm>
            <a:off x="4709160" y="3337560"/>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reference_length 5 s</a:t>
            </a:r>
          </a:p>
        </p:txBody>
      </p:sp>
      <p:sp>
        <p:nvSpPr>
          <p:cNvPr id="33" name="Rounded Rectangle 32"/>
          <p:cNvSpPr/>
          <p:nvPr/>
        </p:nvSpPr>
        <p:spPr>
          <a:xfrm>
            <a:off x="7498080" y="3319272"/>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34" name="TextBox 33"/>
          <p:cNvSpPr txBox="1"/>
          <p:nvPr/>
        </p:nvSpPr>
        <p:spPr>
          <a:xfrm>
            <a:off x="4709160" y="3721608"/>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Heun solver</a:t>
            </a:r>
          </a:p>
        </p:txBody>
      </p:sp>
      <p:sp>
        <p:nvSpPr>
          <p:cNvPr id="35" name="Rounded Rectangle 34"/>
          <p:cNvSpPr/>
          <p:nvPr/>
        </p:nvSpPr>
        <p:spPr>
          <a:xfrm>
            <a:off x="7498080" y="3703320"/>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36" name="TextBox 35"/>
          <p:cNvSpPr txBox="1"/>
          <p:nvPr/>
        </p:nvSpPr>
        <p:spPr>
          <a:xfrm>
            <a:off x="4709160" y="4105656"/>
            <a:ext cx="2743200" cy="274320"/>
          </a:xfrm>
          <a:prstGeom prst="rect">
            <a:avLst/>
          </a:prstGeom>
          <a:noFill/>
        </p:spPr>
        <p:txBody>
          <a:bodyPr wrap="square" lIns="0" rIns="0" tIns="0" bIns="0">
            <a:spAutoFit/>
          </a:bodyPr>
          <a:lstStyle/>
          <a:p>
            <a:pPr algn="l">
              <a:spcAft>
                <a:spcPts val="0"/>
              </a:spcAft>
            </a:pPr>
            <a:r>
              <a:rPr sz="1150" b="0" i="0">
                <a:solidFill>
                  <a:srgbClr val="121A20"/>
                </a:solidFill>
                <a:latin typeface="Segoe UI"/>
              </a:rPr>
              <a:t>projection_best</a:t>
            </a:r>
          </a:p>
        </p:txBody>
      </p:sp>
      <p:sp>
        <p:nvSpPr>
          <p:cNvPr id="37" name="Rounded Rectangle 36"/>
          <p:cNvSpPr/>
          <p:nvPr/>
        </p:nvSpPr>
        <p:spPr>
          <a:xfrm>
            <a:off x="7498080" y="4087368"/>
            <a:ext cx="1051560" cy="228600"/>
          </a:xfrm>
          <a:prstGeom prst="roundRect">
            <a:avLst/>
          </a:prstGeom>
          <a:solidFill>
            <a:srgbClr val="9E3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a:solidFill>
                  <a:srgbClr val="FFFFFF"/>
                </a:solidFill>
                <a:latin typeface="Segoe UI"/>
              </a:rPr>
              <a:t>REJECTED</a:t>
            </a:r>
          </a:p>
        </p:txBody>
      </p:sp>
      <p:sp>
        <p:nvSpPr>
          <p:cNvPr id="38" name="TextBox 37"/>
          <p:cNvSpPr txBox="1"/>
          <p:nvPr/>
        </p:nvSpPr>
        <p:spPr>
          <a:xfrm>
            <a:off x="411480" y="4617720"/>
            <a:ext cx="8321040" cy="457200"/>
          </a:xfrm>
          <a:prstGeom prst="rect">
            <a:avLst/>
          </a:prstGeom>
          <a:noFill/>
        </p:spPr>
        <p:txBody>
          <a:bodyPr wrap="square" lIns="0" rIns="0" tIns="0" bIns="0">
            <a:spAutoFit/>
          </a:bodyPr>
          <a:lstStyle/>
          <a:p>
            <a:pPr algn="l">
              <a:spcAft>
                <a:spcPts val="0"/>
              </a:spcAft>
            </a:pPr>
            <a:r>
              <a:rPr sz="1150" b="0" i="1">
                <a:solidFill>
                  <a:srgbClr val="657782"/>
                </a:solidFill>
                <a:latin typeface="Segoe UI"/>
              </a:rPr>
              <a:t>Every rejection came with a measured mechanism, not just a number — which is what makes them reusable knowledge rather than dead ends.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9144000" cy="5143500"/>
          </a:xfrm>
          <a:prstGeom prst="roundRect">
            <a:avLst/>
          </a:prstGeom>
          <a:solidFill>
            <a:srgbClr val="0E6F6B"/>
          </a:solidFill>
          <a:ln>
            <a:solidFill>
              <a:srgbClr val="D9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0"/>
            <a:ext cx="8321040" cy="1463040"/>
          </a:xfrm>
          <a:prstGeom prst="rect">
            <a:avLst/>
          </a:prstGeom>
          <a:noFill/>
        </p:spPr>
        <p:txBody>
          <a:bodyPr wrap="square" lIns="0" rIns="0" tIns="0" bIns="0">
            <a:spAutoFit/>
          </a:bodyPr>
          <a:lstStyle/>
          <a:p>
            <a:pPr algn="ctr">
              <a:spcAft>
                <a:spcPts val="1000"/>
              </a:spcAft>
            </a:pPr>
            <a:r>
              <a:rPr sz="4000" b="1" i="0">
                <a:solidFill>
                  <a:srgbClr val="FFFFFF"/>
                </a:solidFill>
                <a:latin typeface="Segoe UI"/>
              </a:rPr>
              <a:t>Thank you</a:t>
            </a:r>
          </a:p>
          <a:p>
            <a:pPr algn="ctr">
              <a:spcAft>
                <a:spcPts val="0"/>
              </a:spcAft>
            </a:pPr>
            <a:r>
              <a:rPr sz="1800" b="0" i="0">
                <a:solidFill>
                  <a:srgbClr val="CCE8E6"/>
                </a:solidFill>
                <a:latin typeface="Segoe UI"/>
              </a:rPr>
              <a:t>Questions?</a:t>
            </a:r>
          </a:p>
        </p:txBody>
      </p:sp>
      <p:sp>
        <p:nvSpPr>
          <p:cNvPr id="4" name="TextBox 3"/>
          <p:cNvSpPr txBox="1"/>
          <p:nvPr/>
        </p:nvSpPr>
        <p:spPr>
          <a:xfrm>
            <a:off x="411480" y="4114800"/>
            <a:ext cx="8321040" cy="548640"/>
          </a:xfrm>
          <a:prstGeom prst="rect">
            <a:avLst/>
          </a:prstGeom>
          <a:noFill/>
        </p:spPr>
        <p:txBody>
          <a:bodyPr wrap="square" lIns="0" rIns="0" tIns="0" bIns="0">
            <a:spAutoFit/>
          </a:bodyPr>
          <a:lstStyle/>
          <a:p>
            <a:pPr algn="ctr">
              <a:spcAft>
                <a:spcPts val="500"/>
              </a:spcAft>
            </a:pPr>
            <a:r>
              <a:rPr sz="1100" b="0" i="0">
                <a:solidFill>
                  <a:srgbClr val="A8D8D5"/>
                </a:solidFill>
                <a:latin typeface="Segoe UI"/>
              </a:rPr>
              <a:t>Mask2Flow-TSE  ·  Phase One  ·  Vinay Reddy Galigutta  ·  25CS60R85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